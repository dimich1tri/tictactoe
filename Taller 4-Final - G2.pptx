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1"/>
  </p:notesMasterIdLst>
  <p:sldIdLst>
    <p:sldId id="445" r:id="rId5"/>
    <p:sldId id="558" r:id="rId6"/>
    <p:sldId id="559" r:id="rId7"/>
    <p:sldId id="454" r:id="rId8"/>
    <p:sldId id="462" r:id="rId9"/>
    <p:sldId id="459" r:id="rId10"/>
  </p:sldIdLst>
  <p:sldSz cx="12192000" cy="6858000"/>
  <p:notesSz cx="6858000" cy="9144000"/>
  <p:defaultTextStyle>
    <a:defPPr>
      <a:defRPr lang="es-ES_trad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driana Diaz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99"/>
    <a:srgbClr val="FF99FF"/>
    <a:srgbClr val="CC99FF"/>
    <a:srgbClr val="006666"/>
    <a:srgbClr val="FF66FF"/>
    <a:srgbClr val="FFCCFF"/>
    <a:srgbClr val="00FFFF"/>
    <a:srgbClr val="141C35"/>
    <a:srgbClr val="141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3CAE5D-BEA9-4052-8D69-4D876BA8058C}" v="1" dt="2026-02-26T04:11:18.538"/>
    <p1510:client id="{4EBEDCEA-EAD5-43D1-9E50-1C06367805AE}" v="1" dt="2026-02-26T04:00:28.2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commentAuthors" Target="commentAuthor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8E539C-DDF3-AC46-8B9D-2E762AE448C0}" type="datetimeFigureOut">
              <a:rPr lang="es-ES_tradnl" smtClean="0"/>
              <a:t>25/02/2026</a:t>
            </a:fld>
            <a:endParaRPr lang="es-ES_tradn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F5C0A5-FBF0-BA4F-A7ED-D301001CE6FC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7895411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gestión </a:t>
            </a:r>
            <a:r>
              <a:rPr lang="es-ES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academica</a:t>
            </a:r>
            <a:r>
              <a:rPr lang="es-ES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s-ES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administativa</a:t>
            </a:r>
            <a:r>
              <a:rPr lang="es-ES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logros y actividades a destacar.</a:t>
            </a:r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F5C0A5-FBF0-BA4F-A7ED-D301001CE6FC}" type="slidenum">
              <a:rPr lang="es-ES_tradnl" smtClean="0"/>
              <a:t>1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596859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gestión </a:t>
            </a:r>
            <a:r>
              <a:rPr lang="es-ES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academica</a:t>
            </a:r>
            <a:r>
              <a:rPr lang="es-ES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s-ES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administativa</a:t>
            </a:r>
            <a:r>
              <a:rPr lang="es-ES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logros y actividades a destacar.</a:t>
            </a:r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F5C0A5-FBF0-BA4F-A7ED-D301001CE6FC}" type="slidenum">
              <a:rPr lang="es-ES_tradnl" smtClean="0"/>
              <a:t>6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678792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_tradnl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280E0-7F35-E648-A499-767250BB567F}" type="datetimeFigureOut">
              <a:rPr lang="es-ES_tradnl" smtClean="0"/>
              <a:t>25/02/2026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70117-86FD-5C4E-9449-35DCC7DD46F3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757033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280E0-7F35-E648-A499-767250BB567F}" type="datetimeFigureOut">
              <a:rPr lang="es-ES_tradnl" smtClean="0"/>
              <a:t>25/02/2026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70117-86FD-5C4E-9449-35DCC7DD46F3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8439787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280E0-7F35-E648-A499-767250BB567F}" type="datetimeFigureOut">
              <a:rPr lang="es-ES_tradnl" smtClean="0"/>
              <a:t>25/02/2026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70117-86FD-5C4E-9449-35DCC7DD46F3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621261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280E0-7F35-E648-A499-767250BB567F}" type="datetimeFigureOut">
              <a:rPr lang="es-ES_tradnl" smtClean="0"/>
              <a:t>25/02/2026</a:t>
            </a:fld>
            <a:endParaRPr lang="es-ES_tradn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70117-86FD-5C4E-9449-35DCC7DD46F3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844884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280E0-7F35-E648-A499-767250BB567F}" type="datetimeFigureOut">
              <a:rPr lang="es-ES_tradnl" smtClean="0"/>
              <a:t>25/02/2026</a:t>
            </a:fld>
            <a:endParaRPr lang="es-ES_tradnl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70117-86FD-5C4E-9449-35DCC7DD46F3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6876633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280E0-7F35-E648-A499-767250BB567F}" type="datetimeFigureOut">
              <a:rPr lang="es-ES_tradnl" smtClean="0"/>
              <a:t>25/02/2026</a:t>
            </a:fld>
            <a:endParaRPr lang="es-ES_tradnl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70117-86FD-5C4E-9449-35DCC7DD46F3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593107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280E0-7F35-E648-A499-767250BB567F}" type="datetimeFigureOut">
              <a:rPr lang="es-ES_tradnl" smtClean="0"/>
              <a:t>25/02/2026</a:t>
            </a:fld>
            <a:endParaRPr lang="es-ES_tradnl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70117-86FD-5C4E-9449-35DCC7DD46F3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8800626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280E0-7F35-E648-A499-767250BB567F}" type="datetimeFigureOut">
              <a:rPr lang="es-ES_tradnl" smtClean="0"/>
              <a:t>25/02/2026</a:t>
            </a:fld>
            <a:endParaRPr lang="es-ES_tradn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70117-86FD-5C4E-9449-35DCC7DD46F3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38391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280E0-7F35-E648-A499-767250BB567F}" type="datetimeFigureOut">
              <a:rPr lang="es-ES_tradnl" smtClean="0"/>
              <a:t>25/02/2026</a:t>
            </a:fld>
            <a:endParaRPr lang="es-ES_tradn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70117-86FD-5C4E-9449-35DCC7DD46F3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247643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280E0-7F35-E648-A499-767250BB567F}" type="datetimeFigureOut">
              <a:rPr lang="es-ES_tradnl" smtClean="0"/>
              <a:t>25/02/2026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70117-86FD-5C4E-9449-35DCC7DD46F3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899222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280E0-7F35-E648-A499-767250BB567F}" type="datetimeFigureOut">
              <a:rPr lang="es-ES_tradnl" smtClean="0"/>
              <a:t>25/02/2026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70117-86FD-5C4E-9449-35DCC7DD46F3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862640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A280E0-7F35-E648-A499-767250BB567F}" type="datetimeFigureOut">
              <a:rPr lang="es-ES_tradnl" smtClean="0"/>
              <a:t>25/02/2026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770117-86FD-5C4E-9449-35DCC7DD46F3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225682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Subtítulo 2"/>
          <p:cNvSpPr>
            <a:spLocks noGrp="1"/>
          </p:cNvSpPr>
          <p:nvPr>
            <p:ph type="subTitle" idx="1"/>
          </p:nvPr>
        </p:nvSpPr>
        <p:spPr>
          <a:xfrm>
            <a:off x="3384468" y="2812021"/>
            <a:ext cx="8456166" cy="1581096"/>
          </a:xfrm>
        </p:spPr>
        <p:txBody>
          <a:bodyPr>
            <a:noAutofit/>
          </a:bodyPr>
          <a:lstStyle/>
          <a:p>
            <a:r>
              <a:rPr lang="es-ES_tradnl" sz="5400" b="1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Inteligencia Artificial</a:t>
            </a:r>
          </a:p>
          <a:p>
            <a:r>
              <a:rPr lang="es-ES_tradnl" sz="3600" b="1">
                <a:solidFill>
                  <a:srgbClr val="FFC000"/>
                </a:solidFill>
                <a:latin typeface="Arial" charset="0"/>
                <a:ea typeface="Arial" charset="0"/>
                <a:cs typeface="Arial" charset="0"/>
              </a:rPr>
              <a:t>Juegos Multijugador</a:t>
            </a:r>
          </a:p>
          <a:p>
            <a:r>
              <a:rPr lang="es-ES_tradnl" sz="3600" b="1">
                <a:solidFill>
                  <a:srgbClr val="FFC000"/>
                </a:solidFill>
                <a:latin typeface="Arial" charset="0"/>
                <a:ea typeface="Arial" charset="0"/>
                <a:cs typeface="Arial" charset="0"/>
              </a:rPr>
              <a:t>Taller 4</a:t>
            </a:r>
          </a:p>
        </p:txBody>
      </p:sp>
      <p:sp>
        <p:nvSpPr>
          <p:cNvPr id="6" name="Subtítulo 2"/>
          <p:cNvSpPr txBox="1">
            <a:spLocks/>
          </p:cNvSpPr>
          <p:nvPr/>
        </p:nvSpPr>
        <p:spPr>
          <a:xfrm>
            <a:off x="3723788" y="5639886"/>
            <a:ext cx="8456166" cy="1002738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b="1">
                <a:solidFill>
                  <a:schemeClr val="accent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rPr>
              <a:t>Ing. Laura Juliana Mora Páez Msc</a:t>
            </a:r>
          </a:p>
          <a:p>
            <a:r>
              <a:rPr lang="es-ES_tradnl" b="1">
                <a:solidFill>
                  <a:schemeClr val="accent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rPr>
              <a:t>Departamento de Ingeniería de Sistemas</a:t>
            </a:r>
          </a:p>
        </p:txBody>
      </p:sp>
      <p:sp>
        <p:nvSpPr>
          <p:cNvPr id="2" name="Subtítulo 2">
            <a:extLst>
              <a:ext uri="{FF2B5EF4-FFF2-40B4-BE49-F238E27FC236}">
                <a16:creationId xmlns:a16="http://schemas.microsoft.com/office/drawing/2014/main" id="{B2F912C0-186C-9377-EB64-A8DD7C03F4B7}"/>
              </a:ext>
            </a:extLst>
          </p:cNvPr>
          <p:cNvSpPr txBox="1">
            <a:spLocks/>
          </p:cNvSpPr>
          <p:nvPr/>
        </p:nvSpPr>
        <p:spPr>
          <a:xfrm>
            <a:off x="1473628" y="221871"/>
            <a:ext cx="3634928" cy="947493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>
            <a:defPPr>
              <a:defRPr lang="es-ES_tradnl"/>
            </a:defPPr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70000"/>
              </a:lnSpc>
            </a:pPr>
            <a:r>
              <a:rPr lang="es-ES_tradnl" sz="1400" b="1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Simón Díaz Monrroy</a:t>
            </a:r>
          </a:p>
          <a:p>
            <a:pPr algn="l">
              <a:lnSpc>
                <a:spcPct val="50000"/>
              </a:lnSpc>
            </a:pPr>
            <a:r>
              <a:rPr lang="es-ES_tradnl" sz="1400" b="1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Thomas Leal Puerta</a:t>
            </a:r>
          </a:p>
          <a:p>
            <a:pPr algn="l">
              <a:lnSpc>
                <a:spcPct val="70000"/>
              </a:lnSpc>
            </a:pPr>
            <a:r>
              <a:rPr lang="es-ES_tradnl" sz="1400" b="1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Eliana Pardo Montenegro</a:t>
            </a:r>
          </a:p>
          <a:p>
            <a:pPr algn="l">
              <a:lnSpc>
                <a:spcPct val="70000"/>
              </a:lnSpc>
            </a:pPr>
            <a:r>
              <a:rPr lang="es-ES_tradnl" sz="1400" b="1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Iván Pardo Montenegro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B5980E9-A391-2BFB-C252-1224521652B1}"/>
              </a:ext>
            </a:extLst>
          </p:cNvPr>
          <p:cNvSpPr txBox="1">
            <a:spLocks/>
          </p:cNvSpPr>
          <p:nvPr/>
        </p:nvSpPr>
        <p:spPr>
          <a:xfrm>
            <a:off x="317404" y="513860"/>
            <a:ext cx="1156224" cy="473746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>
            <a:defPPr>
              <a:defRPr lang="es-ES_tradnl"/>
            </a:defPPr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sz="1800" b="1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Grupo 2</a:t>
            </a:r>
          </a:p>
        </p:txBody>
      </p:sp>
    </p:spTree>
    <p:extLst>
      <p:ext uri="{BB962C8B-B14F-4D97-AF65-F5344CB8AC3E}">
        <p14:creationId xmlns:p14="http://schemas.microsoft.com/office/powerpoint/2010/main" val="328592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01128" cy="6863135"/>
          </a:xfrm>
        </p:spPr>
      </p:pic>
      <p:sp>
        <p:nvSpPr>
          <p:cNvPr id="31" name="Rectángulo 30"/>
          <p:cNvSpPr/>
          <p:nvPr/>
        </p:nvSpPr>
        <p:spPr>
          <a:xfrm>
            <a:off x="1341912" y="583285"/>
            <a:ext cx="7172696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_tradnl" sz="3000" b="1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Taller 4 - Juegos</a:t>
            </a:r>
          </a:p>
        </p:txBody>
      </p:sp>
      <p:sp>
        <p:nvSpPr>
          <p:cNvPr id="118" name="Rectangle 4"/>
          <p:cNvSpPr>
            <a:spLocks noChangeArrowheads="1"/>
          </p:cNvSpPr>
          <p:nvPr/>
        </p:nvSpPr>
        <p:spPr bwMode="auto">
          <a:xfrm>
            <a:off x="1224147" y="1440156"/>
            <a:ext cx="8977688" cy="5417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marL="0" indent="0" eaLnBrk="1" hangingPunct="1">
              <a:spcBef>
                <a:spcPct val="20000"/>
              </a:spcBef>
              <a:buClr>
                <a:schemeClr val="hlink"/>
              </a:buClr>
              <a:buSzPct val="55000"/>
            </a:pPr>
            <a:r>
              <a:rPr lang="es-ES" altLang="es-CO" b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Problema del </a:t>
            </a:r>
            <a:r>
              <a:rPr lang="es-ES" altLang="es-CO" b="0" err="1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Triqui</a:t>
            </a:r>
            <a:r>
              <a:rPr lang="es-ES" altLang="es-CO" b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kumimoji="0" lang="es-ES" altLang="es-CO">
                <a:solidFill>
                  <a:srgbClr val="7030A0"/>
                </a:solidFill>
              </a:rPr>
              <a:t>- entrega para la próxima clase</a:t>
            </a:r>
            <a:endParaRPr lang="es-ES" altLang="es-CO" b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eaLnBrk="1" hangingPunct="1">
              <a:spcBef>
                <a:spcPct val="20000"/>
              </a:spcBef>
              <a:buClr>
                <a:schemeClr val="hlink"/>
              </a:buClr>
              <a:buSzPct val="55000"/>
            </a:pPr>
            <a:r>
              <a:rPr kumimoji="0" lang="es-ES" altLang="es-CO" sz="2000" b="0">
                <a:solidFill>
                  <a:srgbClr val="C00000"/>
                </a:solidFill>
              </a:rPr>
              <a:t>En un tablero de tamaño 3x3, dos jugadores se alternan para poner símbolos ‘X’ y ‘O’.</a:t>
            </a:r>
            <a:br>
              <a:rPr kumimoji="0" lang="es-ES" altLang="es-CO" sz="2000" b="0">
                <a:solidFill>
                  <a:srgbClr val="C00000"/>
                </a:solidFill>
              </a:rPr>
            </a:br>
            <a:r>
              <a:rPr kumimoji="0" lang="es-ES" altLang="es-CO" sz="2000" b="0">
                <a:solidFill>
                  <a:srgbClr val="C00000"/>
                </a:solidFill>
              </a:rPr>
              <a:t>Gana el que logre poner tres en línea.</a:t>
            </a:r>
          </a:p>
          <a:p>
            <a:pPr marL="0" indent="0" eaLnBrk="1" hangingPunct="1">
              <a:spcBef>
                <a:spcPct val="20000"/>
              </a:spcBef>
              <a:buClr>
                <a:schemeClr val="hlink"/>
              </a:buClr>
              <a:buSzPct val="55000"/>
            </a:pPr>
            <a:r>
              <a:rPr kumimoji="0" lang="es-ES" altLang="es-CO" sz="2000" b="0">
                <a:solidFill>
                  <a:srgbClr val="C00000"/>
                </a:solidFill>
              </a:rPr>
              <a:t>Escriba un programa (en lenguaje C, C++, Java o </a:t>
            </a:r>
            <a:r>
              <a:rPr kumimoji="0" lang="es-ES" altLang="es-CO" sz="2000" b="0" err="1">
                <a:solidFill>
                  <a:srgbClr val="C00000"/>
                </a:solidFill>
              </a:rPr>
              <a:t>Phyton</a:t>
            </a:r>
            <a:r>
              <a:rPr kumimoji="0" lang="es-ES" altLang="es-CO" sz="2000" b="0">
                <a:solidFill>
                  <a:srgbClr val="C00000"/>
                </a:solidFill>
              </a:rPr>
              <a:t>) que implemente el algoritmo MIN-MAX para el juego de Triqui.</a:t>
            </a:r>
          </a:p>
          <a:p>
            <a:pPr marL="0" indent="0" eaLnBrk="1" hangingPunct="1">
              <a:spcBef>
                <a:spcPct val="20000"/>
              </a:spcBef>
              <a:buClr>
                <a:schemeClr val="hlink"/>
              </a:buClr>
              <a:buSzPct val="55000"/>
            </a:pPr>
            <a:r>
              <a:rPr kumimoji="0" lang="es-ES" altLang="es-CO" sz="2000" b="0">
                <a:solidFill>
                  <a:srgbClr val="C00000"/>
                </a:solidFill>
              </a:rPr>
              <a:t>- Analizar y definir cómo representar un estado.</a:t>
            </a:r>
          </a:p>
          <a:p>
            <a:pPr marL="0" indent="0" eaLnBrk="1" hangingPunct="1">
              <a:spcBef>
                <a:spcPct val="20000"/>
              </a:spcBef>
              <a:buClr>
                <a:schemeClr val="hlink"/>
              </a:buClr>
              <a:buSzPct val="55000"/>
            </a:pPr>
            <a:r>
              <a:rPr kumimoji="0" lang="es-ES" altLang="es-CO" sz="2000" b="0">
                <a:solidFill>
                  <a:srgbClr val="C00000"/>
                </a:solidFill>
              </a:rPr>
              <a:t>- Definir una función heurística para valorar un estado.</a:t>
            </a:r>
          </a:p>
          <a:p>
            <a:pPr marL="0" indent="0" eaLnBrk="1" hangingPunct="1">
              <a:spcBef>
                <a:spcPct val="20000"/>
              </a:spcBef>
              <a:buClr>
                <a:schemeClr val="hlink"/>
              </a:buClr>
              <a:buSzPct val="55000"/>
            </a:pPr>
            <a:r>
              <a:rPr kumimoji="0" lang="es-ES" altLang="es-CO" sz="2000" b="0">
                <a:solidFill>
                  <a:srgbClr val="C00000"/>
                </a:solidFill>
              </a:rPr>
              <a:t>- Definir una función que genera los sucesores de un estado.</a:t>
            </a:r>
          </a:p>
          <a:p>
            <a:pPr marL="0" indent="0" eaLnBrk="1" hangingPunct="1">
              <a:spcBef>
                <a:spcPct val="20000"/>
              </a:spcBef>
              <a:buClr>
                <a:schemeClr val="hlink"/>
              </a:buClr>
              <a:buSzPct val="55000"/>
            </a:pPr>
            <a:r>
              <a:rPr kumimoji="0" lang="es-ES" altLang="es-CO" sz="2000" b="0">
                <a:solidFill>
                  <a:srgbClr val="C00000"/>
                </a:solidFill>
              </a:rPr>
              <a:t>- Efectuar una jugada y dar turno al oponente.</a:t>
            </a:r>
          </a:p>
          <a:p>
            <a:pPr marL="0" indent="0" eaLnBrk="1" hangingPunct="1">
              <a:spcBef>
                <a:spcPct val="20000"/>
              </a:spcBef>
              <a:buClr>
                <a:schemeClr val="hlink"/>
              </a:buClr>
              <a:buSzPct val="55000"/>
            </a:pPr>
            <a:endParaRPr kumimoji="0" lang="es-ES" altLang="es-CO" sz="2000" b="0">
              <a:solidFill>
                <a:srgbClr val="C00000"/>
              </a:solidFill>
            </a:endParaRPr>
          </a:p>
          <a:p>
            <a:pPr marL="0" indent="0" eaLnBrk="1" hangingPunct="1">
              <a:spcBef>
                <a:spcPct val="20000"/>
              </a:spcBef>
              <a:buClr>
                <a:schemeClr val="hlink"/>
              </a:buClr>
              <a:buSzPct val="55000"/>
            </a:pPr>
            <a:r>
              <a:rPr kumimoji="0" lang="es-ES" altLang="es-CO" sz="2000">
                <a:solidFill>
                  <a:srgbClr val="7030A0"/>
                </a:solidFill>
              </a:rPr>
              <a:t>BONUS</a:t>
            </a:r>
          </a:p>
          <a:p>
            <a:pPr marL="0" indent="0" eaLnBrk="1" hangingPunct="1">
              <a:spcBef>
                <a:spcPct val="20000"/>
              </a:spcBef>
              <a:buClr>
                <a:schemeClr val="hlink"/>
              </a:buClr>
              <a:buSzPct val="55000"/>
            </a:pPr>
            <a:r>
              <a:rPr kumimoji="0" lang="es-ES" altLang="es-CO" sz="2000" b="0">
                <a:solidFill>
                  <a:srgbClr val="C00000"/>
                </a:solidFill>
              </a:rPr>
              <a:t>- Poda Alfa-Beta.</a:t>
            </a: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endParaRPr kumimoji="0" lang="es-ES" altLang="es-CO" sz="1200" b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26468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ángulo 30"/>
          <p:cNvSpPr/>
          <p:nvPr/>
        </p:nvSpPr>
        <p:spPr>
          <a:xfrm>
            <a:off x="1341912" y="583285"/>
            <a:ext cx="7172696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_tradnl" sz="3000" b="1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Función Heurística - Ejercicio</a:t>
            </a:r>
          </a:p>
        </p:txBody>
      </p:sp>
      <p:pic>
        <p:nvPicPr>
          <p:cNvPr id="67" name="Marcador de contenido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5967"/>
          <a:stretch/>
        </p:blipFill>
        <p:spPr>
          <a:xfrm>
            <a:off x="1398" y="4652"/>
            <a:ext cx="12201128" cy="1649377"/>
          </a:xfrm>
        </p:spPr>
      </p:pic>
      <p:sp>
        <p:nvSpPr>
          <p:cNvPr id="68" name="Rectángulo 67"/>
          <p:cNvSpPr/>
          <p:nvPr/>
        </p:nvSpPr>
        <p:spPr>
          <a:xfrm>
            <a:off x="1343310" y="298349"/>
            <a:ext cx="717269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_tradnl" sz="3000" b="1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Taller 4-1 – Triqui – Representación del Estado</a:t>
            </a:r>
          </a:p>
        </p:txBody>
      </p:sp>
      <p:pic>
        <p:nvPicPr>
          <p:cNvPr id="65" name="Picture 2">
            <a:extLst>
              <a:ext uri="{FF2B5EF4-FFF2-40B4-BE49-F238E27FC236}">
                <a16:creationId xmlns:a16="http://schemas.microsoft.com/office/drawing/2014/main" id="{1DA2726D-6B71-4F12-B207-6A7336DED12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/>
          <a:srcRect t="1096" b="51329"/>
          <a:stretch/>
        </p:blipFill>
        <p:spPr bwMode="auto">
          <a:xfrm>
            <a:off x="64027" y="2451378"/>
            <a:ext cx="6215943" cy="19552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6" name="Rectangle 1027">
            <a:extLst>
              <a:ext uri="{FF2B5EF4-FFF2-40B4-BE49-F238E27FC236}">
                <a16:creationId xmlns:a16="http://schemas.microsoft.com/office/drawing/2014/main" id="{0D060DFF-E86D-4F54-8F5F-623C49C93EC3}"/>
              </a:ext>
            </a:extLst>
          </p:cNvPr>
          <p:cNvSpPr txBox="1">
            <a:spLocks noChangeArrowheads="1"/>
          </p:cNvSpPr>
          <p:nvPr/>
        </p:nvSpPr>
        <p:spPr>
          <a:xfrm>
            <a:off x="6616113" y="2127837"/>
            <a:ext cx="5369374" cy="38199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3000"/>
              </a:lnSpc>
            </a:pPr>
            <a:r>
              <a:rPr lang="es-ES" altLang="es-CO" sz="1800" b="1" dirty="0">
                <a:solidFill>
                  <a:srgbClr val="7030A0"/>
                </a:solidFill>
              </a:rPr>
              <a:t>Estado Global del Juego</a:t>
            </a:r>
          </a:p>
          <a:p>
            <a:pPr lvl="1">
              <a:lnSpc>
                <a:spcPct val="83000"/>
              </a:lnSpc>
            </a:pPr>
            <a:r>
              <a:rPr lang="es-ES" altLang="es-CO" sz="1400" b="1" dirty="0" err="1">
                <a:solidFill>
                  <a:srgbClr val="7030A0"/>
                </a:solidFill>
              </a:rPr>
              <a:t>EstJuego</a:t>
            </a:r>
            <a:r>
              <a:rPr lang="es-ES" altLang="es-CO" sz="1400" b="1" dirty="0">
                <a:solidFill>
                  <a:srgbClr val="7030A0"/>
                </a:solidFill>
              </a:rPr>
              <a:t> = [   ]</a:t>
            </a:r>
            <a:endParaRPr lang="es-ES" altLang="es-CO" sz="1400" b="1" dirty="0">
              <a:solidFill>
                <a:srgbClr val="7030A0"/>
              </a:solidFill>
              <a:ea typeface="Calibri"/>
              <a:cs typeface="Calibri"/>
            </a:endParaRPr>
          </a:p>
          <a:p>
            <a:pPr>
              <a:lnSpc>
                <a:spcPct val="83000"/>
              </a:lnSpc>
            </a:pPr>
            <a:endParaRPr lang="es-ES" altLang="es-CO" sz="1800" b="1" dirty="0">
              <a:solidFill>
                <a:schemeClr val="accent1"/>
              </a:solidFill>
            </a:endParaRPr>
          </a:p>
          <a:p>
            <a:pPr marL="0" indent="0">
              <a:lnSpc>
                <a:spcPct val="83000"/>
              </a:lnSpc>
              <a:buNone/>
            </a:pPr>
            <a:r>
              <a:rPr lang="es-ES" altLang="es-CO" sz="1600" u="sng" dirty="0">
                <a:solidFill>
                  <a:srgbClr val="7030A0"/>
                </a:solidFill>
              </a:rPr>
              <a:t>Componentes</a:t>
            </a:r>
            <a:endParaRPr lang="es-ES" altLang="es-CO" sz="1600" u="sng" dirty="0">
              <a:solidFill>
                <a:srgbClr val="7030A0"/>
              </a:solidFill>
              <a:ea typeface="Calibri"/>
              <a:cs typeface="Calibri"/>
            </a:endParaRPr>
          </a:p>
          <a:p>
            <a:pPr marL="0" indent="0">
              <a:lnSpc>
                <a:spcPct val="83000"/>
              </a:lnSpc>
              <a:buNone/>
            </a:pPr>
            <a:r>
              <a:rPr lang="es-ES" sz="1600" dirty="0">
                <a:solidFill>
                  <a:schemeClr val="accent4">
                    <a:lumMod val="75000"/>
                  </a:schemeClr>
                </a:solidFill>
              </a:rPr>
              <a:t>Tablero </a:t>
            </a:r>
            <a:r>
              <a:rPr lang="es-ES" sz="1600" dirty="0">
                <a:solidFill>
                  <a:schemeClr val="accent4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→</a:t>
            </a:r>
            <a:r>
              <a:rPr lang="es-ES" sz="1600" dirty="0">
                <a:solidFill>
                  <a:schemeClr val="accent4">
                    <a:lumMod val="75000"/>
                  </a:schemeClr>
                </a:solidFill>
              </a:rPr>
              <a:t> Matriz 3x3</a:t>
            </a:r>
            <a:endParaRPr lang="en-US" sz="1600" dirty="0">
              <a:solidFill>
                <a:schemeClr val="accent4">
                  <a:lumMod val="75000"/>
                </a:schemeClr>
              </a:solidFill>
              <a:ea typeface="Calibri"/>
              <a:cs typeface="Calibri"/>
            </a:endParaRPr>
          </a:p>
          <a:p>
            <a:pPr marL="0" indent="0">
              <a:lnSpc>
                <a:spcPct val="83000"/>
              </a:lnSpc>
              <a:buNone/>
            </a:pPr>
            <a:r>
              <a:rPr lang="es-ES" sz="1600" dirty="0">
                <a:solidFill>
                  <a:schemeClr val="accent2">
                    <a:lumMod val="75000"/>
                  </a:schemeClr>
                </a:solidFill>
              </a:rPr>
              <a:t>[Alpha, Beta] → [n1, n2]</a:t>
            </a:r>
            <a:endParaRPr lang="en-US" sz="1600" dirty="0">
              <a:solidFill>
                <a:schemeClr val="accent2">
                  <a:lumMod val="75000"/>
                </a:schemeClr>
              </a:solidFill>
            </a:endParaRPr>
          </a:p>
          <a:p>
            <a:pPr marL="0" indent="0">
              <a:lnSpc>
                <a:spcPct val="83000"/>
              </a:lnSpc>
              <a:buNone/>
            </a:pPr>
            <a:r>
              <a:rPr lang="es-ES" sz="1600" dirty="0">
                <a:solidFill>
                  <a:srgbClr val="7030A0"/>
                </a:solidFill>
              </a:rPr>
              <a:t>Heurística</a:t>
            </a:r>
            <a:r>
              <a:rPr lang="es-ES" sz="1600" dirty="0">
                <a:solidFill>
                  <a:srgbClr val="7030A0"/>
                </a:solidFill>
                <a:latin typeface="Calibri"/>
                <a:ea typeface="Calibri"/>
                <a:cs typeface="Calibri"/>
              </a:rPr>
              <a:t> → h(n)</a:t>
            </a:r>
            <a:endParaRPr lang="es-ES" dirty="0"/>
          </a:p>
          <a:p>
            <a:pPr marL="0" indent="0">
              <a:lnSpc>
                <a:spcPct val="83000"/>
              </a:lnSpc>
              <a:buNone/>
            </a:pPr>
            <a:r>
              <a:rPr lang="es-ES" sz="1600" dirty="0">
                <a:solidFill>
                  <a:schemeClr val="accent4">
                    <a:lumMod val="75000"/>
                  </a:schemeClr>
                </a:solidFill>
                <a:ea typeface="Calibri"/>
                <a:cs typeface="Calibri"/>
              </a:rPr>
              <a:t>Jugador → Min, Max.</a:t>
            </a:r>
            <a:endParaRPr lang="en-US" sz="1600" dirty="0">
              <a:solidFill>
                <a:schemeClr val="accent4">
                  <a:lumMod val="75000"/>
                </a:schemeClr>
              </a:solidFill>
              <a:ea typeface="Calibri"/>
              <a:cs typeface="Calibri"/>
            </a:endParaRPr>
          </a:p>
          <a:p>
            <a:pPr marL="0" indent="0">
              <a:lnSpc>
                <a:spcPct val="83000"/>
              </a:lnSpc>
              <a:buNone/>
            </a:pPr>
            <a:r>
              <a:rPr lang="es-ES" sz="1600" dirty="0">
                <a:solidFill>
                  <a:schemeClr val="accent4">
                    <a:lumMod val="75000"/>
                  </a:schemeClr>
                </a:solidFill>
                <a:ea typeface="Calibri"/>
                <a:cs typeface="Calibri"/>
              </a:rPr>
              <a:t>Descendientes -&gt; &lt;EstJuego</a:t>
            </a:r>
            <a:r>
              <a:rPr lang="es-ES" sz="1200" dirty="0">
                <a:solidFill>
                  <a:schemeClr val="accent4">
                    <a:lumMod val="75000"/>
                  </a:schemeClr>
                </a:solidFill>
                <a:ea typeface="Calibri"/>
                <a:cs typeface="Calibri"/>
              </a:rPr>
              <a:t>1</a:t>
            </a:r>
            <a:r>
              <a:rPr lang="es-ES" sz="1600" dirty="0">
                <a:solidFill>
                  <a:schemeClr val="accent4">
                    <a:lumMod val="75000"/>
                  </a:schemeClr>
                </a:solidFill>
                <a:ea typeface="Calibri"/>
                <a:cs typeface="Calibri"/>
              </a:rPr>
              <a:t>,EstJuego</a:t>
            </a:r>
            <a:r>
              <a:rPr lang="es-ES" sz="1200" dirty="0">
                <a:solidFill>
                  <a:schemeClr val="accent4">
                    <a:lumMod val="75000"/>
                  </a:schemeClr>
                </a:solidFill>
                <a:ea typeface="Calibri"/>
                <a:cs typeface="Calibri"/>
              </a:rPr>
              <a:t>2</a:t>
            </a:r>
            <a:r>
              <a:rPr lang="es-ES" sz="1600" dirty="0">
                <a:solidFill>
                  <a:schemeClr val="accent4">
                    <a:lumMod val="75000"/>
                  </a:schemeClr>
                </a:solidFill>
                <a:ea typeface="Calibri"/>
                <a:cs typeface="Calibri"/>
              </a:rPr>
              <a:t>,...,</a:t>
            </a:r>
            <a:r>
              <a:rPr lang="es-ES" sz="1600" dirty="0" err="1">
                <a:solidFill>
                  <a:schemeClr val="accent4">
                    <a:lumMod val="75000"/>
                  </a:schemeClr>
                </a:solidFill>
                <a:ea typeface="Calibri"/>
                <a:cs typeface="Calibri"/>
              </a:rPr>
              <a:t>EstJuego</a:t>
            </a:r>
            <a:r>
              <a:rPr lang="es-ES" sz="1200" dirty="0" err="1">
                <a:solidFill>
                  <a:schemeClr val="accent4">
                    <a:lumMod val="75000"/>
                  </a:schemeClr>
                </a:solidFill>
                <a:ea typeface="Calibri"/>
                <a:cs typeface="Calibri"/>
              </a:rPr>
              <a:t>n</a:t>
            </a:r>
            <a:r>
              <a:rPr lang="es-ES" sz="1600" dirty="0">
                <a:solidFill>
                  <a:schemeClr val="accent4">
                    <a:lumMod val="75000"/>
                  </a:schemeClr>
                </a:solidFill>
                <a:ea typeface="Calibri"/>
                <a:cs typeface="Calibri"/>
              </a:rPr>
              <a:t>&gt;</a:t>
            </a:r>
          </a:p>
          <a:p>
            <a:pPr marL="742950" lvl="1" indent="-285750">
              <a:lnSpc>
                <a:spcPct val="83000"/>
              </a:lnSpc>
            </a:pPr>
            <a:r>
              <a:rPr lang="es-ES" altLang="es-CO" sz="1200" dirty="0">
                <a:solidFill>
                  <a:schemeClr val="accent4">
                    <a:lumMod val="75000"/>
                  </a:schemeClr>
                </a:solidFill>
                <a:ea typeface="Calibri"/>
                <a:cs typeface="Calibri"/>
              </a:rPr>
              <a:t>Donde n es la cantidad de casillas vacías</a:t>
            </a:r>
          </a:p>
        </p:txBody>
      </p:sp>
    </p:spTree>
    <p:extLst>
      <p:ext uri="{BB962C8B-B14F-4D97-AF65-F5344CB8AC3E}">
        <p14:creationId xmlns:p14="http://schemas.microsoft.com/office/powerpoint/2010/main" val="40076125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ángulo 30"/>
          <p:cNvSpPr/>
          <p:nvPr/>
        </p:nvSpPr>
        <p:spPr>
          <a:xfrm>
            <a:off x="1341912" y="583285"/>
            <a:ext cx="7172696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_tradnl" sz="3000" b="1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Función Heurística - Ejercicio</a:t>
            </a: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1224147" y="1531643"/>
            <a:ext cx="10544300" cy="5142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marL="0" indent="0" eaLnBrk="1" hangingPunct="1">
              <a:spcBef>
                <a:spcPct val="20000"/>
              </a:spcBef>
              <a:buClr>
                <a:schemeClr val="hlink"/>
              </a:buClr>
              <a:buSzPct val="55000"/>
            </a:pPr>
            <a:r>
              <a:rPr lang="es-CO" altLang="es-CO" b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Función Heurística </a:t>
            </a:r>
            <a:r>
              <a:rPr kumimoji="0" lang="es-ES" altLang="es-CO" b="0">
                <a:solidFill>
                  <a:schemeClr val="accent1">
                    <a:lumMod val="50000"/>
                  </a:schemeClr>
                </a:solidFill>
              </a:rPr>
              <a:t>→</a:t>
            </a:r>
            <a:r>
              <a:rPr lang="es-CO" altLang="es-CO" b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s-CO" altLang="es-CO" b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Juego “</a:t>
            </a:r>
            <a:r>
              <a:rPr lang="es-CO" altLang="es-CO" b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Triqui</a:t>
            </a:r>
            <a:r>
              <a:rPr lang="es-CO" altLang="es-CO" b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”</a:t>
            </a:r>
            <a:endParaRPr lang="es-CO" altLang="es-CO" b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Rectangle 1027"/>
          <p:cNvSpPr txBox="1">
            <a:spLocks noChangeArrowheads="1"/>
          </p:cNvSpPr>
          <p:nvPr/>
        </p:nvSpPr>
        <p:spPr>
          <a:xfrm>
            <a:off x="6639411" y="1436389"/>
            <a:ext cx="5566597" cy="5421757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3000"/>
              </a:lnSpc>
            </a:pPr>
            <a:r>
              <a:rPr lang="es-ES" altLang="es-CO" sz="1800" b="1">
                <a:solidFill>
                  <a:schemeClr val="accent1"/>
                </a:solidFill>
              </a:rPr>
              <a:t>Función Heurística – </a:t>
            </a:r>
            <a:r>
              <a:rPr lang="es-ES" altLang="es-CO" sz="1800" b="1">
                <a:solidFill>
                  <a:srgbClr val="C00000"/>
                </a:solidFill>
              </a:rPr>
              <a:t>Ho para el jugador O</a:t>
            </a:r>
          </a:p>
          <a:p>
            <a:pPr marL="0" indent="0">
              <a:lnSpc>
                <a:spcPct val="83000"/>
              </a:lnSpc>
              <a:buNone/>
            </a:pPr>
            <a:r>
              <a:rPr lang="es-ES" altLang="es-CO" sz="1600" u="sng">
                <a:solidFill>
                  <a:srgbClr val="0070C0"/>
                </a:solidFill>
              </a:rPr>
              <a:t>Indicadores</a:t>
            </a:r>
          </a:p>
          <a:p>
            <a:pPr marL="0" indent="0">
              <a:lnSpc>
                <a:spcPct val="83000"/>
              </a:lnSpc>
              <a:buNone/>
            </a:pPr>
            <a:r>
              <a:rPr lang="es-CO" altLang="es-CO" sz="1600" dirty="0" err="1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xhi</a:t>
            </a:r>
            <a:r>
              <a:rPr lang="es-CO" altLang="es-CO" sz="1600" dirty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s-ES" altLang="es-CO" sz="1600" dirty="0">
                <a:solidFill>
                  <a:schemeClr val="accent4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→</a:t>
            </a:r>
            <a:r>
              <a:rPr lang="es-ES" sz="1600" dirty="0">
                <a:solidFill>
                  <a:schemeClr val="accent4">
                    <a:lumMod val="75000"/>
                  </a:schemeClr>
                </a:solidFill>
                <a:ea typeface="+mn-lt"/>
                <a:cs typeface="+mn-lt"/>
              </a:rPr>
              <a:t>#equis</a:t>
            </a:r>
            <a:r>
              <a:rPr lang="es-ES" altLang="es-CO" sz="1600" dirty="0">
                <a:solidFill>
                  <a:schemeClr val="accent4">
                    <a:lumMod val="75000"/>
                  </a:schemeClr>
                </a:solidFill>
              </a:rPr>
              <a:t> que forman una línea horizontal</a:t>
            </a:r>
            <a:endParaRPr lang="es-ES" altLang="es-CO" sz="1600" dirty="0">
              <a:solidFill>
                <a:schemeClr val="accent4">
                  <a:lumMod val="75000"/>
                </a:schemeClr>
              </a:solidFill>
              <a:ea typeface="Calibri"/>
              <a:cs typeface="Calibri"/>
            </a:endParaRPr>
          </a:p>
          <a:p>
            <a:pPr marL="0" indent="0">
              <a:lnSpc>
                <a:spcPct val="83000"/>
              </a:lnSpc>
              <a:buNone/>
            </a:pPr>
            <a:r>
              <a:rPr lang="es-ES" altLang="es-CO" sz="1600" dirty="0" err="1">
                <a:solidFill>
                  <a:schemeClr val="accent2">
                    <a:lumMod val="75000"/>
                  </a:schemeClr>
                </a:solidFill>
                <a:ea typeface="Calibri"/>
                <a:cs typeface="Calibri"/>
              </a:rPr>
              <a:t>xvi</a:t>
            </a:r>
            <a:r>
              <a:rPr lang="es-ES" altLang="es-CO" sz="1600" dirty="0">
                <a:solidFill>
                  <a:schemeClr val="accent2">
                    <a:lumMod val="75000"/>
                  </a:schemeClr>
                </a:solidFill>
                <a:ea typeface="Calibri"/>
                <a:cs typeface="Calibri"/>
              </a:rPr>
              <a:t> → </a:t>
            </a:r>
            <a:r>
              <a:rPr lang="es-ES" sz="1600" dirty="0">
                <a:solidFill>
                  <a:schemeClr val="accent2">
                    <a:lumMod val="75000"/>
                  </a:schemeClr>
                </a:solidFill>
                <a:ea typeface="+mn-lt"/>
                <a:cs typeface="+mn-lt"/>
              </a:rPr>
              <a:t>#equis </a:t>
            </a:r>
            <a:r>
              <a:rPr lang="es-ES" sz="1600" dirty="0">
                <a:solidFill>
                  <a:schemeClr val="accent2">
                    <a:lumMod val="75000"/>
                  </a:schemeClr>
                </a:solidFill>
                <a:ea typeface="Calibri"/>
                <a:cs typeface="Calibri"/>
              </a:rPr>
              <a:t>que forman una línea </a:t>
            </a:r>
            <a:r>
              <a:rPr lang="es-ES" altLang="es-CO" sz="1600" dirty="0">
                <a:solidFill>
                  <a:schemeClr val="accent2">
                    <a:lumMod val="75000"/>
                  </a:schemeClr>
                </a:solidFill>
                <a:ea typeface="Calibri"/>
                <a:cs typeface="Calibri"/>
              </a:rPr>
              <a:t>vertical</a:t>
            </a:r>
          </a:p>
          <a:p>
            <a:pPr marL="0" indent="0">
              <a:lnSpc>
                <a:spcPct val="83000"/>
              </a:lnSpc>
              <a:buNone/>
            </a:pPr>
            <a:r>
              <a:rPr lang="es-ES" sz="1600" dirty="0" err="1">
                <a:solidFill>
                  <a:srgbClr val="7030A0"/>
                </a:solidFill>
                <a:ea typeface="Calibri"/>
                <a:cs typeface="Calibri"/>
              </a:rPr>
              <a:t>xdp</a:t>
            </a:r>
            <a:r>
              <a:rPr lang="es-ES" sz="1600" dirty="0">
                <a:solidFill>
                  <a:srgbClr val="7030A0"/>
                </a:solidFill>
              </a:rPr>
              <a:t> → #equis que forman una línea en la  diagonal principal</a:t>
            </a:r>
            <a:endParaRPr lang="es-ES" dirty="0">
              <a:ea typeface="Calibri"/>
              <a:cs typeface="Calibri"/>
            </a:endParaRPr>
          </a:p>
          <a:p>
            <a:pPr marL="0" indent="0">
              <a:lnSpc>
                <a:spcPct val="83000"/>
              </a:lnSpc>
              <a:buNone/>
            </a:pPr>
            <a:r>
              <a:rPr lang="es-ES" sz="1600" dirty="0" err="1">
                <a:solidFill>
                  <a:srgbClr val="7030A0"/>
                </a:solidFill>
                <a:ea typeface="Calibri"/>
                <a:cs typeface="Calibri"/>
              </a:rPr>
              <a:t>xds</a:t>
            </a:r>
            <a:r>
              <a:rPr lang="es-ES" sz="1600" dirty="0">
                <a:solidFill>
                  <a:srgbClr val="7030A0"/>
                </a:solidFill>
                <a:ea typeface="Calibri"/>
                <a:cs typeface="Calibri"/>
              </a:rPr>
              <a:t> -&gt; </a:t>
            </a:r>
            <a:r>
              <a:rPr lang="es-ES" sz="1500" dirty="0">
                <a:solidFill>
                  <a:srgbClr val="7030A0"/>
                </a:solidFill>
                <a:ea typeface="Calibri"/>
                <a:cs typeface="Calibri"/>
              </a:rPr>
              <a:t>#equis que forman una línea en la  diagonal secundaria</a:t>
            </a:r>
          </a:p>
          <a:p>
            <a:pPr marL="0" indent="0">
              <a:lnSpc>
                <a:spcPct val="83000"/>
              </a:lnSpc>
              <a:buNone/>
            </a:pPr>
            <a:r>
              <a:rPr lang="es-CO" sz="1600" dirty="0" err="1">
                <a:solidFill>
                  <a:srgbClr val="FF0000"/>
                </a:solidFill>
                <a:ea typeface="Calibri"/>
                <a:cs typeface="Calibri"/>
              </a:rPr>
              <a:t>oh</a:t>
            </a:r>
            <a:r>
              <a:rPr lang="es-CO" sz="1200" dirty="0" err="1">
                <a:solidFill>
                  <a:srgbClr val="FF0000"/>
                </a:solidFill>
                <a:ea typeface="Calibri"/>
                <a:cs typeface="Calibri"/>
              </a:rPr>
              <a:t>i</a:t>
            </a:r>
            <a:r>
              <a:rPr lang="es-CO" sz="1600" dirty="0">
                <a:solidFill>
                  <a:srgbClr val="FF0000"/>
                </a:solidFill>
                <a:ea typeface="Calibri"/>
                <a:cs typeface="Calibri"/>
              </a:rPr>
              <a:t> </a:t>
            </a:r>
            <a:r>
              <a:rPr lang="es-ES" sz="1600" dirty="0">
                <a:solidFill>
                  <a:srgbClr val="FF0000"/>
                </a:solidFill>
                <a:ea typeface="Calibri"/>
                <a:cs typeface="Calibri"/>
              </a:rPr>
              <a:t>→ hay una o más O en la línea horizontal</a:t>
            </a:r>
          </a:p>
          <a:p>
            <a:pPr marL="0" indent="0">
              <a:lnSpc>
                <a:spcPct val="83000"/>
              </a:lnSpc>
              <a:buNone/>
            </a:pPr>
            <a:r>
              <a:rPr lang="es-ES" sz="1600" dirty="0" err="1">
                <a:solidFill>
                  <a:srgbClr val="00B050"/>
                </a:solidFill>
                <a:ea typeface="Calibri"/>
                <a:cs typeface="Calibri"/>
              </a:rPr>
              <a:t>ov</a:t>
            </a:r>
            <a:r>
              <a:rPr lang="es-ES" sz="1400" dirty="0" err="1">
                <a:solidFill>
                  <a:srgbClr val="00B050"/>
                </a:solidFill>
                <a:ea typeface="Calibri"/>
                <a:cs typeface="Calibri"/>
              </a:rPr>
              <a:t>i</a:t>
            </a:r>
            <a:r>
              <a:rPr lang="es-ES" sz="1600" dirty="0">
                <a:solidFill>
                  <a:srgbClr val="00B050"/>
                </a:solidFill>
                <a:ea typeface="Calibri"/>
                <a:cs typeface="Calibri"/>
              </a:rPr>
              <a:t> → hay </a:t>
            </a:r>
            <a:r>
              <a:rPr lang="es-ES" sz="1600" dirty="0">
                <a:solidFill>
                  <a:srgbClr val="00B050"/>
                </a:solidFill>
                <a:ea typeface="+mn-lt"/>
                <a:cs typeface="+mn-lt"/>
              </a:rPr>
              <a:t>una o más</a:t>
            </a:r>
            <a:r>
              <a:rPr lang="es-ES" sz="1600" dirty="0">
                <a:solidFill>
                  <a:srgbClr val="00B050"/>
                </a:solidFill>
                <a:ea typeface="Calibri"/>
                <a:cs typeface="Calibri"/>
              </a:rPr>
              <a:t> O en la línea vertical</a:t>
            </a:r>
            <a:endParaRPr lang="en-US" sz="1600" dirty="0">
              <a:solidFill>
                <a:srgbClr val="00B050"/>
              </a:solidFill>
              <a:ea typeface="Calibri"/>
              <a:cs typeface="Calibri"/>
            </a:endParaRPr>
          </a:p>
          <a:p>
            <a:pPr marL="0" indent="0">
              <a:lnSpc>
                <a:spcPct val="83000"/>
              </a:lnSpc>
              <a:buNone/>
            </a:pPr>
            <a:r>
              <a:rPr lang="es-ES" sz="1600" dirty="0" err="1">
                <a:solidFill>
                  <a:srgbClr val="002060"/>
                </a:solidFill>
                <a:ea typeface="Calibri"/>
                <a:cs typeface="Calibri"/>
              </a:rPr>
              <a:t>odp</a:t>
            </a:r>
            <a:r>
              <a:rPr lang="es-ES" sz="1600" dirty="0">
                <a:solidFill>
                  <a:srgbClr val="002060"/>
                </a:solidFill>
                <a:ea typeface="Calibri"/>
                <a:cs typeface="Calibri"/>
              </a:rPr>
              <a:t> → hay una o más O en la diagonal principal</a:t>
            </a:r>
            <a:endParaRPr lang="es-ES" dirty="0">
              <a:solidFill>
                <a:srgbClr val="002060"/>
              </a:solidFill>
            </a:endParaRPr>
          </a:p>
          <a:p>
            <a:pPr marL="0" indent="0">
              <a:lnSpc>
                <a:spcPct val="83000"/>
              </a:lnSpc>
              <a:buNone/>
            </a:pPr>
            <a:r>
              <a:rPr lang="es-ES" sz="1600" dirty="0" err="1">
                <a:solidFill>
                  <a:srgbClr val="002060"/>
                </a:solidFill>
                <a:ea typeface="Calibri"/>
                <a:cs typeface="Calibri"/>
              </a:rPr>
              <a:t>ods</a:t>
            </a:r>
            <a:r>
              <a:rPr lang="es-ES" sz="1600" dirty="0">
                <a:solidFill>
                  <a:srgbClr val="002060"/>
                </a:solidFill>
                <a:ea typeface="Calibri"/>
                <a:cs typeface="Calibri"/>
              </a:rPr>
              <a:t> → hay una o más O en la diagonal secundaria</a:t>
            </a:r>
            <a:endParaRPr lang="es-ES" dirty="0"/>
          </a:p>
          <a:p>
            <a:pPr marL="0" indent="0">
              <a:lnSpc>
                <a:spcPct val="83000"/>
              </a:lnSpc>
              <a:buNone/>
            </a:pPr>
            <a:r>
              <a:rPr lang="es-ES" sz="1600" dirty="0">
                <a:ea typeface="Calibri"/>
                <a:cs typeface="Calibri"/>
              </a:rPr>
              <a:t>Valores posibles de cada indic</a:t>
            </a:r>
            <a:r>
              <a:rPr lang="es-ES" sz="1600">
                <a:ea typeface="Calibri"/>
                <a:cs typeface="Calibri"/>
              </a:rPr>
              <a:t>ador = [0, 3]</a:t>
            </a:r>
          </a:p>
          <a:p>
            <a:pPr marL="0" indent="0">
              <a:lnSpc>
                <a:spcPct val="83000"/>
              </a:lnSpc>
              <a:buNone/>
            </a:pPr>
            <a:r>
              <a:rPr lang="es-ES" sz="1600" dirty="0">
                <a:solidFill>
                  <a:srgbClr val="000000"/>
                </a:solidFill>
                <a:ea typeface="Calibri"/>
                <a:cs typeface="Calibri"/>
              </a:rPr>
              <a:t>Valores para el </a:t>
            </a:r>
            <a:r>
              <a:rPr lang="es-ES" sz="1600" dirty="0" err="1">
                <a:solidFill>
                  <a:srgbClr val="000000"/>
                </a:solidFill>
                <a:ea typeface="Calibri"/>
                <a:cs typeface="Calibri"/>
              </a:rPr>
              <a:t>indice</a:t>
            </a:r>
            <a:r>
              <a:rPr lang="es-ES" sz="1600" dirty="0">
                <a:solidFill>
                  <a:srgbClr val="000000"/>
                </a:solidFill>
                <a:ea typeface="Calibri"/>
                <a:cs typeface="Calibri"/>
              </a:rPr>
              <a:t> i = [0,2]</a:t>
            </a:r>
            <a:endParaRPr lang="es-ES" sz="1600" dirty="0">
              <a:solidFill>
                <a:srgbClr val="000000"/>
              </a:solidFill>
            </a:endParaRPr>
          </a:p>
          <a:p>
            <a:pPr marL="0" indent="0">
              <a:lnSpc>
                <a:spcPct val="83000"/>
              </a:lnSpc>
              <a:buNone/>
            </a:pPr>
            <a:r>
              <a:rPr lang="es-ES" altLang="es-CO" sz="1600" u="sng">
                <a:solidFill>
                  <a:srgbClr val="0070C0"/>
                </a:solidFill>
              </a:rPr>
              <a:t>Ponderación Indicadores</a:t>
            </a:r>
          </a:p>
          <a:p>
            <a:pPr marL="0" indent="0">
              <a:lnSpc>
                <a:spcPct val="83000"/>
              </a:lnSpc>
              <a:buNone/>
            </a:pPr>
            <a:endParaRPr lang="es-ES" altLang="es-CO" sz="1600" u="sng">
              <a:solidFill>
                <a:srgbClr val="0070C0"/>
              </a:solidFill>
            </a:endParaRPr>
          </a:p>
          <a:p>
            <a:pPr marL="457200" lvl="1" indent="0">
              <a:lnSpc>
                <a:spcPct val="83000"/>
              </a:lnSpc>
              <a:buNone/>
            </a:pPr>
            <a:r>
              <a:rPr lang="es-ES" altLang="es-CO" sz="1600" dirty="0">
                <a:solidFill>
                  <a:srgbClr val="0070C0"/>
                </a:solidFill>
              </a:rPr>
              <a:t>Ho = </a:t>
            </a:r>
            <a:r>
              <a:rPr lang="es-ES" altLang="es-CO" sz="1600" dirty="0" err="1">
                <a:solidFill>
                  <a:schemeClr val="accent4">
                    <a:lumMod val="75000"/>
                  </a:schemeClr>
                </a:solidFill>
              </a:rPr>
              <a:t>w</a:t>
            </a:r>
            <a:r>
              <a:rPr lang="es-ES" altLang="es-CO" sz="1100" dirty="0" err="1">
                <a:solidFill>
                  <a:schemeClr val="accent4">
                    <a:lumMod val="75000"/>
                  </a:schemeClr>
                </a:solidFill>
              </a:rPr>
              <a:t>xhi</a:t>
            </a:r>
            <a:r>
              <a:rPr lang="es-ES" altLang="es-CO" sz="1100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s-ES" altLang="es-CO" sz="1600" dirty="0">
                <a:solidFill>
                  <a:schemeClr val="accent4">
                    <a:lumMod val="75000"/>
                  </a:schemeClr>
                </a:solidFill>
              </a:rPr>
              <a:t>* ~</a:t>
            </a:r>
            <a:r>
              <a:rPr lang="es-CO" sz="1600" dirty="0" err="1">
                <a:solidFill>
                  <a:schemeClr val="accent4">
                    <a:lumMod val="75000"/>
                  </a:schemeClr>
                </a:solidFill>
              </a:rPr>
              <a:t>ohi</a:t>
            </a:r>
            <a:r>
              <a:rPr lang="es-ES" altLang="es-CO" sz="1600" dirty="0">
                <a:solidFill>
                  <a:schemeClr val="accent4">
                    <a:lumMod val="75000"/>
                  </a:schemeClr>
                </a:solidFill>
              </a:rPr>
              <a:t> </a:t>
            </a:r>
            <a:r>
              <a:rPr lang="es-ES" altLang="es-CO" sz="1100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s-ES" altLang="es-CO" sz="1500" dirty="0"/>
              <a:t>+</a:t>
            </a:r>
            <a:r>
              <a:rPr lang="es-ES" altLang="es-CO" sz="1100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s-ES" sz="1600" dirty="0" err="1">
                <a:solidFill>
                  <a:schemeClr val="accent2"/>
                </a:solidFill>
              </a:rPr>
              <a:t>w</a:t>
            </a:r>
            <a:r>
              <a:rPr lang="es-ES" sz="1100" dirty="0" err="1">
                <a:solidFill>
                  <a:schemeClr val="accent2"/>
                </a:solidFill>
                <a:ea typeface="Calibri"/>
                <a:cs typeface="Calibri"/>
              </a:rPr>
              <a:t>xvi</a:t>
            </a:r>
            <a:r>
              <a:rPr lang="es-ES" sz="1100" dirty="0">
                <a:solidFill>
                  <a:schemeClr val="accent2"/>
                </a:solidFill>
                <a:ea typeface="Calibri"/>
                <a:cs typeface="Calibri"/>
              </a:rPr>
              <a:t> </a:t>
            </a:r>
            <a:r>
              <a:rPr lang="es-ES" sz="1500" dirty="0">
                <a:solidFill>
                  <a:schemeClr val="accent2"/>
                </a:solidFill>
                <a:ea typeface="Calibri"/>
                <a:cs typeface="Calibri"/>
              </a:rPr>
              <a:t>* ~</a:t>
            </a:r>
            <a:r>
              <a:rPr lang="es-ES" sz="1500" dirty="0" err="1">
                <a:solidFill>
                  <a:schemeClr val="accent2"/>
                </a:solidFill>
                <a:ea typeface="Calibri"/>
                <a:cs typeface="Calibri"/>
              </a:rPr>
              <a:t>ovi</a:t>
            </a:r>
            <a:r>
              <a:rPr lang="es-ES" sz="1500" dirty="0">
                <a:solidFill>
                  <a:schemeClr val="accent2"/>
                </a:solidFill>
                <a:ea typeface="Calibri"/>
                <a:cs typeface="Calibri"/>
              </a:rPr>
              <a:t> </a:t>
            </a:r>
            <a:r>
              <a:rPr lang="es-ES" sz="1500" dirty="0">
                <a:ea typeface="Calibri"/>
                <a:cs typeface="Calibri"/>
              </a:rPr>
              <a:t>+</a:t>
            </a:r>
            <a:r>
              <a:rPr lang="es-ES" sz="1500" dirty="0">
                <a:solidFill>
                  <a:srgbClr val="000000"/>
                </a:solidFill>
                <a:ea typeface="Calibri"/>
                <a:cs typeface="Calibri"/>
              </a:rPr>
              <a:t> </a:t>
            </a:r>
            <a:r>
              <a:rPr lang="es-ES" sz="1500" dirty="0">
                <a:solidFill>
                  <a:srgbClr val="7030A0"/>
                </a:solidFill>
                <a:ea typeface="Calibri"/>
                <a:cs typeface="Calibri"/>
              </a:rPr>
              <a:t> </a:t>
            </a:r>
            <a:r>
              <a:rPr lang="es-ES" sz="1600" dirty="0" err="1">
                <a:solidFill>
                  <a:srgbClr val="7030A0"/>
                </a:solidFill>
                <a:ea typeface="Calibri"/>
                <a:cs typeface="Calibri"/>
              </a:rPr>
              <a:t>w</a:t>
            </a:r>
            <a:r>
              <a:rPr lang="es-ES" sz="1100" dirty="0" err="1">
                <a:solidFill>
                  <a:srgbClr val="7030A0"/>
                </a:solidFill>
                <a:ea typeface="Calibri"/>
                <a:cs typeface="Calibri"/>
              </a:rPr>
              <a:t>xdp</a:t>
            </a:r>
            <a:r>
              <a:rPr lang="es-ES" sz="1100" dirty="0">
                <a:solidFill>
                  <a:srgbClr val="7030A0"/>
                </a:solidFill>
                <a:ea typeface="Calibri"/>
                <a:cs typeface="Calibri"/>
              </a:rPr>
              <a:t> </a:t>
            </a:r>
            <a:r>
              <a:rPr lang="es-ES" sz="1600" dirty="0">
                <a:solidFill>
                  <a:srgbClr val="7030A0"/>
                </a:solidFill>
                <a:ea typeface="Calibri"/>
                <a:cs typeface="Calibri"/>
              </a:rPr>
              <a:t>* ~</a:t>
            </a:r>
            <a:r>
              <a:rPr lang="es-ES" sz="1600" dirty="0" err="1">
                <a:solidFill>
                  <a:srgbClr val="7030A0"/>
                </a:solidFill>
                <a:ea typeface="Calibri"/>
                <a:cs typeface="Calibri"/>
              </a:rPr>
              <a:t>odp</a:t>
            </a:r>
            <a:r>
              <a:rPr lang="es-ES" sz="1600" dirty="0">
                <a:solidFill>
                  <a:srgbClr val="7030A0"/>
                </a:solidFill>
                <a:ea typeface="Calibri"/>
                <a:cs typeface="Calibri"/>
              </a:rPr>
              <a:t> </a:t>
            </a:r>
            <a:r>
              <a:rPr lang="es-ES" sz="1500" dirty="0">
                <a:solidFill>
                  <a:srgbClr val="000000"/>
                </a:solidFill>
                <a:ea typeface="Calibri"/>
                <a:cs typeface="Calibri"/>
              </a:rPr>
              <a:t>+ </a:t>
            </a:r>
            <a:r>
              <a:rPr lang="es-ES" sz="1500" dirty="0" err="1">
                <a:solidFill>
                  <a:srgbClr val="7030A0"/>
                </a:solidFill>
                <a:ea typeface="Calibri"/>
                <a:cs typeface="Calibri"/>
              </a:rPr>
              <a:t>w</a:t>
            </a:r>
            <a:r>
              <a:rPr lang="es-ES" sz="1200" dirty="0" err="1">
                <a:solidFill>
                  <a:srgbClr val="7030A0"/>
                </a:solidFill>
                <a:ea typeface="Calibri"/>
                <a:cs typeface="Calibri"/>
              </a:rPr>
              <a:t>xds</a:t>
            </a:r>
            <a:r>
              <a:rPr lang="es-ES" sz="1200" dirty="0">
                <a:solidFill>
                  <a:srgbClr val="7030A0"/>
                </a:solidFill>
                <a:ea typeface="Calibri"/>
                <a:cs typeface="Calibri"/>
              </a:rPr>
              <a:t> </a:t>
            </a:r>
            <a:r>
              <a:rPr lang="es-ES" sz="1500" dirty="0">
                <a:solidFill>
                  <a:srgbClr val="7030A0"/>
                </a:solidFill>
                <a:ea typeface="Calibri"/>
                <a:cs typeface="Calibri"/>
              </a:rPr>
              <a:t>* ~</a:t>
            </a:r>
            <a:r>
              <a:rPr lang="es-ES" sz="1500" dirty="0" err="1">
                <a:solidFill>
                  <a:srgbClr val="7030A0"/>
                </a:solidFill>
                <a:ea typeface="Calibri"/>
                <a:cs typeface="Calibri"/>
              </a:rPr>
              <a:t>ods</a:t>
            </a:r>
            <a:r>
              <a:rPr lang="es-ES" sz="1100" dirty="0">
                <a:solidFill>
                  <a:srgbClr val="7030A0"/>
                </a:solidFill>
                <a:ea typeface="Calibri"/>
                <a:cs typeface="Calibri"/>
              </a:rPr>
              <a:t> </a:t>
            </a:r>
          </a:p>
          <a:p>
            <a:pPr marL="457200" lvl="1" indent="0">
              <a:lnSpc>
                <a:spcPct val="83000"/>
              </a:lnSpc>
              <a:buNone/>
            </a:pPr>
            <a:endParaRPr lang="es-ES" altLang="es-CO" sz="1600" dirty="0">
              <a:ea typeface="Calibri"/>
              <a:cs typeface="Calibri"/>
            </a:endParaRPr>
          </a:p>
          <a:p>
            <a:pPr marL="457200" lvl="1" indent="0">
              <a:lnSpc>
                <a:spcPct val="83000"/>
              </a:lnSpc>
              <a:buNone/>
            </a:pPr>
            <a:r>
              <a:rPr lang="es-ES" altLang="es-CO" sz="1600">
                <a:ea typeface="Calibri"/>
                <a:cs typeface="Calibri"/>
              </a:rPr>
              <a:t>~: Negación</a:t>
            </a:r>
          </a:p>
          <a:p>
            <a:pPr marL="457200" lvl="1" indent="0">
              <a:lnSpc>
                <a:spcPct val="83000"/>
              </a:lnSpc>
              <a:buNone/>
            </a:pPr>
            <a:endParaRPr lang="es-ES" altLang="es-CO" sz="1600" dirty="0">
              <a:ea typeface="Calibri"/>
              <a:cs typeface="Calibri"/>
            </a:endParaRPr>
          </a:p>
          <a:p>
            <a:pPr marL="457200" lvl="1" indent="0">
              <a:lnSpc>
                <a:spcPct val="83000"/>
              </a:lnSpc>
              <a:buNone/>
            </a:pPr>
            <a:r>
              <a:rPr lang="es-ES" altLang="es-CO" sz="1600">
                <a:ea typeface="Calibri"/>
                <a:cs typeface="Calibri"/>
              </a:rPr>
              <a:t>W = [1,10,100,1000]</a:t>
            </a:r>
            <a:endParaRPr lang="es-ES" altLang="es-CO" sz="1600" dirty="0"/>
          </a:p>
          <a:p>
            <a:pPr marL="457200" lvl="1" indent="0">
              <a:lnSpc>
                <a:spcPct val="83000"/>
              </a:lnSpc>
              <a:buNone/>
            </a:pPr>
            <a:r>
              <a:rPr lang="es-ES" sz="1600"/>
              <a:t>w</a:t>
            </a:r>
            <a:r>
              <a:rPr lang="es-ES" sz="1200"/>
              <a:t>0</a:t>
            </a:r>
            <a:r>
              <a:rPr lang="es-ES" sz="1600"/>
              <a:t> = 1</a:t>
            </a:r>
            <a:endParaRPr lang="es-ES" sz="1600">
              <a:ea typeface="Calibri"/>
              <a:cs typeface="Calibri"/>
            </a:endParaRPr>
          </a:p>
          <a:p>
            <a:pPr marL="457200" lvl="1" indent="0">
              <a:lnSpc>
                <a:spcPct val="83000"/>
              </a:lnSpc>
              <a:buNone/>
            </a:pPr>
            <a:r>
              <a:rPr lang="es-ES" sz="1600">
                <a:ea typeface="Calibri"/>
                <a:cs typeface="Calibri"/>
              </a:rPr>
              <a:t>w</a:t>
            </a:r>
            <a:r>
              <a:rPr lang="es-ES" sz="1100">
                <a:ea typeface="Calibri"/>
                <a:cs typeface="Calibri"/>
              </a:rPr>
              <a:t>1</a:t>
            </a:r>
            <a:r>
              <a:rPr lang="es-ES" sz="1600" dirty="0">
                <a:ea typeface="Calibri"/>
                <a:cs typeface="Calibri"/>
              </a:rPr>
              <a:t> = 10</a:t>
            </a:r>
            <a:endParaRPr lang="es-ES" dirty="0">
              <a:ea typeface="Calibri"/>
              <a:cs typeface="Calibri"/>
            </a:endParaRPr>
          </a:p>
          <a:p>
            <a:pPr marL="457200" lvl="1" indent="0">
              <a:lnSpc>
                <a:spcPct val="83000"/>
              </a:lnSpc>
              <a:buNone/>
            </a:pPr>
            <a:r>
              <a:rPr lang="es-ES" sz="1600">
                <a:ea typeface="Calibri"/>
                <a:cs typeface="Calibri"/>
              </a:rPr>
              <a:t>w</a:t>
            </a:r>
            <a:r>
              <a:rPr lang="es-ES" sz="1100">
                <a:ea typeface="Calibri"/>
                <a:cs typeface="Calibri"/>
              </a:rPr>
              <a:t>2</a:t>
            </a:r>
            <a:r>
              <a:rPr lang="es-ES" sz="1600" dirty="0">
                <a:ea typeface="Calibri"/>
                <a:cs typeface="Calibri"/>
              </a:rPr>
              <a:t> = 100</a:t>
            </a:r>
            <a:endParaRPr lang="es-ES" dirty="0">
              <a:ea typeface="Calibri"/>
              <a:cs typeface="Calibri"/>
            </a:endParaRPr>
          </a:p>
          <a:p>
            <a:pPr marL="457200" lvl="1" indent="0">
              <a:lnSpc>
                <a:spcPct val="83000"/>
              </a:lnSpc>
              <a:buNone/>
            </a:pPr>
            <a:r>
              <a:rPr lang="es-ES" sz="1600">
                <a:ea typeface="Calibri"/>
                <a:cs typeface="Calibri"/>
              </a:rPr>
              <a:t>W</a:t>
            </a:r>
            <a:r>
              <a:rPr lang="es-ES" sz="1100">
                <a:ea typeface="Calibri"/>
                <a:cs typeface="Calibri"/>
              </a:rPr>
              <a:t>3</a:t>
            </a:r>
            <a:r>
              <a:rPr lang="es-ES" sz="1600">
                <a:ea typeface="Calibri"/>
                <a:cs typeface="Calibri"/>
              </a:rPr>
              <a:t> = 1000</a:t>
            </a:r>
            <a:endParaRPr lang="es-ES" sz="1600" dirty="0">
              <a:ea typeface="Calibri"/>
              <a:cs typeface="Calibri"/>
            </a:endParaRPr>
          </a:p>
        </p:txBody>
      </p:sp>
      <p:sp>
        <p:nvSpPr>
          <p:cNvPr id="17" name="CuadroTexto 16"/>
          <p:cNvSpPr txBox="1"/>
          <p:nvPr/>
        </p:nvSpPr>
        <p:spPr>
          <a:xfrm>
            <a:off x="1519325" y="362359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400" b="1">
                <a:solidFill>
                  <a:srgbClr val="006666"/>
                </a:solidFill>
              </a:rPr>
              <a:t>X</a:t>
            </a:r>
          </a:p>
        </p:txBody>
      </p:sp>
      <p:grpSp>
        <p:nvGrpSpPr>
          <p:cNvPr id="56" name="Grupo 55"/>
          <p:cNvGrpSpPr/>
          <p:nvPr/>
        </p:nvGrpSpPr>
        <p:grpSpPr>
          <a:xfrm>
            <a:off x="1550296" y="3650534"/>
            <a:ext cx="748146" cy="748146"/>
            <a:chOff x="1341912" y="2501375"/>
            <a:chExt cx="748146" cy="748146"/>
          </a:xfrm>
        </p:grpSpPr>
        <p:sp>
          <p:nvSpPr>
            <p:cNvPr id="57" name="Rectángulo 56"/>
            <p:cNvSpPr/>
            <p:nvPr/>
          </p:nvSpPr>
          <p:spPr>
            <a:xfrm>
              <a:off x="1341912" y="2501375"/>
              <a:ext cx="748146" cy="24938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58" name="Rectángulo 57"/>
            <p:cNvSpPr/>
            <p:nvPr/>
          </p:nvSpPr>
          <p:spPr>
            <a:xfrm>
              <a:off x="1341912" y="2750757"/>
              <a:ext cx="748146" cy="24938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59" name="Rectángulo 58"/>
            <p:cNvSpPr/>
            <p:nvPr/>
          </p:nvSpPr>
          <p:spPr>
            <a:xfrm>
              <a:off x="1341912" y="3000139"/>
              <a:ext cx="748146" cy="24938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60" name="Rectángulo 59"/>
            <p:cNvSpPr/>
            <p:nvPr/>
          </p:nvSpPr>
          <p:spPr>
            <a:xfrm rot="5400000">
              <a:off x="1092530" y="2750757"/>
              <a:ext cx="748146" cy="24938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61" name="Rectángulo 60"/>
            <p:cNvSpPr/>
            <p:nvPr/>
          </p:nvSpPr>
          <p:spPr>
            <a:xfrm rot="5400000">
              <a:off x="1341912" y="2750757"/>
              <a:ext cx="748146" cy="24938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62" name="Rectángulo 61"/>
            <p:cNvSpPr/>
            <p:nvPr/>
          </p:nvSpPr>
          <p:spPr>
            <a:xfrm rot="5400000">
              <a:off x="1591294" y="2750757"/>
              <a:ext cx="748146" cy="24938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sp>
        <p:nvSpPr>
          <p:cNvPr id="63" name="CuadroTexto 62"/>
          <p:cNvSpPr txBox="1"/>
          <p:nvPr/>
        </p:nvSpPr>
        <p:spPr>
          <a:xfrm>
            <a:off x="2041122" y="4090904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400" b="1">
                <a:solidFill>
                  <a:srgbClr val="006666"/>
                </a:solidFill>
              </a:rPr>
              <a:t>X</a:t>
            </a:r>
          </a:p>
        </p:txBody>
      </p:sp>
      <p:sp>
        <p:nvSpPr>
          <p:cNvPr id="64" name="CuadroTexto 63"/>
          <p:cNvSpPr txBox="1"/>
          <p:nvPr/>
        </p:nvSpPr>
        <p:spPr>
          <a:xfrm>
            <a:off x="1529460" y="4108269"/>
            <a:ext cx="3064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400" b="1">
                <a:solidFill>
                  <a:srgbClr val="C00000"/>
                </a:solidFill>
              </a:rPr>
              <a:t>O</a:t>
            </a:r>
          </a:p>
        </p:txBody>
      </p:sp>
      <p:cxnSp>
        <p:nvCxnSpPr>
          <p:cNvPr id="121" name="Conector recto de flecha 120"/>
          <p:cNvCxnSpPr>
            <a:stCxn id="62" idx="0"/>
          </p:cNvCxnSpPr>
          <p:nvPr/>
        </p:nvCxnSpPr>
        <p:spPr>
          <a:xfrm flipV="1">
            <a:off x="2298442" y="2913558"/>
            <a:ext cx="951468" cy="111104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Conector recto de flecha 121"/>
          <p:cNvCxnSpPr/>
          <p:nvPr/>
        </p:nvCxnSpPr>
        <p:spPr>
          <a:xfrm>
            <a:off x="2313434" y="4032164"/>
            <a:ext cx="936476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Conector recto de flecha 122"/>
          <p:cNvCxnSpPr>
            <a:stCxn id="62" idx="0"/>
          </p:cNvCxnSpPr>
          <p:nvPr/>
        </p:nvCxnSpPr>
        <p:spPr>
          <a:xfrm>
            <a:off x="2298442" y="4024607"/>
            <a:ext cx="938570" cy="125902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upo 4"/>
          <p:cNvGrpSpPr/>
          <p:nvPr/>
        </p:nvGrpSpPr>
        <p:grpSpPr>
          <a:xfrm>
            <a:off x="3218939" y="4870332"/>
            <a:ext cx="805849" cy="792449"/>
            <a:chOff x="4016799" y="4870332"/>
            <a:chExt cx="805849" cy="792449"/>
          </a:xfrm>
        </p:grpSpPr>
        <p:sp>
          <p:nvSpPr>
            <p:cNvPr id="168" name="CuadroTexto 167"/>
            <p:cNvSpPr txBox="1"/>
            <p:nvPr/>
          </p:nvSpPr>
          <p:spPr>
            <a:xfrm>
              <a:off x="4016799" y="4870332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>
                  <a:solidFill>
                    <a:srgbClr val="006666"/>
                  </a:solidFill>
                </a:rPr>
                <a:t>X</a:t>
              </a:r>
            </a:p>
          </p:txBody>
        </p:sp>
        <p:grpSp>
          <p:nvGrpSpPr>
            <p:cNvPr id="169" name="Grupo 168"/>
            <p:cNvGrpSpPr/>
            <p:nvPr/>
          </p:nvGrpSpPr>
          <p:grpSpPr>
            <a:xfrm>
              <a:off x="4047770" y="4897269"/>
              <a:ext cx="748146" cy="748146"/>
              <a:chOff x="1341912" y="2501375"/>
              <a:chExt cx="748146" cy="748146"/>
            </a:xfrm>
          </p:grpSpPr>
          <p:sp>
            <p:nvSpPr>
              <p:cNvPr id="170" name="Rectángulo 169"/>
              <p:cNvSpPr/>
              <p:nvPr/>
            </p:nvSpPr>
            <p:spPr>
              <a:xfrm>
                <a:off x="1341912" y="2501375"/>
                <a:ext cx="748146" cy="24938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171" name="Rectángulo 170"/>
              <p:cNvSpPr/>
              <p:nvPr/>
            </p:nvSpPr>
            <p:spPr>
              <a:xfrm>
                <a:off x="1341912" y="2750757"/>
                <a:ext cx="748146" cy="24938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172" name="Rectángulo 171"/>
              <p:cNvSpPr/>
              <p:nvPr/>
            </p:nvSpPr>
            <p:spPr>
              <a:xfrm>
                <a:off x="1341912" y="3000139"/>
                <a:ext cx="748146" cy="24938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173" name="Rectángulo 172"/>
              <p:cNvSpPr/>
              <p:nvPr/>
            </p:nvSpPr>
            <p:spPr>
              <a:xfrm rot="5400000">
                <a:off x="1092530" y="2750757"/>
                <a:ext cx="748146" cy="24938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174" name="Rectángulo 173"/>
              <p:cNvSpPr/>
              <p:nvPr/>
            </p:nvSpPr>
            <p:spPr>
              <a:xfrm rot="5400000">
                <a:off x="1341912" y="2750757"/>
                <a:ext cx="748146" cy="24938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175" name="Rectángulo 174"/>
              <p:cNvSpPr/>
              <p:nvPr/>
            </p:nvSpPr>
            <p:spPr>
              <a:xfrm rot="5400000">
                <a:off x="1591294" y="2750757"/>
                <a:ext cx="748146" cy="24938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</p:grpSp>
        <p:sp>
          <p:nvSpPr>
            <p:cNvPr id="176" name="CuadroTexto 175"/>
            <p:cNvSpPr txBox="1"/>
            <p:nvPr/>
          </p:nvSpPr>
          <p:spPr>
            <a:xfrm>
              <a:off x="4538596" y="5337639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>
                  <a:solidFill>
                    <a:srgbClr val="006666"/>
                  </a:solidFill>
                </a:rPr>
                <a:t>X</a:t>
              </a:r>
            </a:p>
          </p:txBody>
        </p:sp>
        <p:sp>
          <p:nvSpPr>
            <p:cNvPr id="177" name="CuadroTexto 176"/>
            <p:cNvSpPr txBox="1"/>
            <p:nvPr/>
          </p:nvSpPr>
          <p:spPr>
            <a:xfrm>
              <a:off x="4026934" y="5355004"/>
              <a:ext cx="30649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>
                  <a:solidFill>
                    <a:srgbClr val="C00000"/>
                  </a:solidFill>
                </a:rPr>
                <a:t>O</a:t>
              </a:r>
            </a:p>
          </p:txBody>
        </p:sp>
        <p:sp>
          <p:nvSpPr>
            <p:cNvPr id="178" name="CuadroTexto 177"/>
            <p:cNvSpPr txBox="1"/>
            <p:nvPr/>
          </p:nvSpPr>
          <p:spPr>
            <a:xfrm>
              <a:off x="4261100" y="5089776"/>
              <a:ext cx="30649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>
                  <a:solidFill>
                    <a:srgbClr val="C00000"/>
                  </a:solidFill>
                </a:rPr>
                <a:t>O</a:t>
              </a:r>
            </a:p>
          </p:txBody>
        </p:sp>
      </p:grpSp>
      <p:grpSp>
        <p:nvGrpSpPr>
          <p:cNvPr id="4" name="Grupo 3"/>
          <p:cNvGrpSpPr/>
          <p:nvPr/>
        </p:nvGrpSpPr>
        <p:grpSpPr>
          <a:xfrm>
            <a:off x="3218939" y="3631395"/>
            <a:ext cx="807673" cy="807322"/>
            <a:chOff x="4016799" y="3631395"/>
            <a:chExt cx="807673" cy="807322"/>
          </a:xfrm>
        </p:grpSpPr>
        <p:sp>
          <p:nvSpPr>
            <p:cNvPr id="148" name="CuadroTexto 147"/>
            <p:cNvSpPr txBox="1"/>
            <p:nvPr/>
          </p:nvSpPr>
          <p:spPr>
            <a:xfrm>
              <a:off x="4016799" y="3646268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>
                  <a:solidFill>
                    <a:srgbClr val="006666"/>
                  </a:solidFill>
                </a:rPr>
                <a:t>X</a:t>
              </a:r>
            </a:p>
          </p:txBody>
        </p:sp>
        <p:grpSp>
          <p:nvGrpSpPr>
            <p:cNvPr id="149" name="Grupo 148"/>
            <p:cNvGrpSpPr/>
            <p:nvPr/>
          </p:nvGrpSpPr>
          <p:grpSpPr>
            <a:xfrm>
              <a:off x="4047770" y="3673205"/>
              <a:ext cx="748146" cy="748146"/>
              <a:chOff x="1341912" y="2501375"/>
              <a:chExt cx="748146" cy="748146"/>
            </a:xfrm>
          </p:grpSpPr>
          <p:sp>
            <p:nvSpPr>
              <p:cNvPr id="150" name="Rectángulo 149"/>
              <p:cNvSpPr/>
              <p:nvPr/>
            </p:nvSpPr>
            <p:spPr>
              <a:xfrm>
                <a:off x="1341912" y="2501375"/>
                <a:ext cx="748146" cy="24938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151" name="Rectángulo 150"/>
              <p:cNvSpPr/>
              <p:nvPr/>
            </p:nvSpPr>
            <p:spPr>
              <a:xfrm>
                <a:off x="1341912" y="2750757"/>
                <a:ext cx="748146" cy="24938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152" name="Rectángulo 151"/>
              <p:cNvSpPr/>
              <p:nvPr/>
            </p:nvSpPr>
            <p:spPr>
              <a:xfrm>
                <a:off x="1341912" y="3000139"/>
                <a:ext cx="748146" cy="24938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153" name="Rectángulo 152"/>
              <p:cNvSpPr/>
              <p:nvPr/>
            </p:nvSpPr>
            <p:spPr>
              <a:xfrm rot="5400000">
                <a:off x="1092530" y="2750757"/>
                <a:ext cx="748146" cy="24938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154" name="Rectángulo 153"/>
              <p:cNvSpPr/>
              <p:nvPr/>
            </p:nvSpPr>
            <p:spPr>
              <a:xfrm rot="5400000">
                <a:off x="1341912" y="2750757"/>
                <a:ext cx="748146" cy="24938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155" name="Rectángulo 154"/>
              <p:cNvSpPr/>
              <p:nvPr/>
            </p:nvSpPr>
            <p:spPr>
              <a:xfrm rot="5400000">
                <a:off x="1591294" y="2750757"/>
                <a:ext cx="748146" cy="24938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</p:grpSp>
        <p:sp>
          <p:nvSpPr>
            <p:cNvPr id="156" name="CuadroTexto 155"/>
            <p:cNvSpPr txBox="1"/>
            <p:nvPr/>
          </p:nvSpPr>
          <p:spPr>
            <a:xfrm>
              <a:off x="4538596" y="4113575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>
                  <a:solidFill>
                    <a:srgbClr val="006666"/>
                  </a:solidFill>
                </a:rPr>
                <a:t>X</a:t>
              </a:r>
            </a:p>
          </p:txBody>
        </p:sp>
        <p:sp>
          <p:nvSpPr>
            <p:cNvPr id="157" name="CuadroTexto 156"/>
            <p:cNvSpPr txBox="1"/>
            <p:nvPr/>
          </p:nvSpPr>
          <p:spPr>
            <a:xfrm>
              <a:off x="4026934" y="4130940"/>
              <a:ext cx="30649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>
                  <a:solidFill>
                    <a:srgbClr val="C00000"/>
                  </a:solidFill>
                </a:rPr>
                <a:t>O</a:t>
              </a:r>
            </a:p>
          </p:txBody>
        </p:sp>
        <p:sp>
          <p:nvSpPr>
            <p:cNvPr id="179" name="CuadroTexto 178"/>
            <p:cNvSpPr txBox="1"/>
            <p:nvPr/>
          </p:nvSpPr>
          <p:spPr>
            <a:xfrm>
              <a:off x="4517978" y="3631395"/>
              <a:ext cx="30649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>
                  <a:solidFill>
                    <a:srgbClr val="C00000"/>
                  </a:solidFill>
                </a:rPr>
                <a:t>O</a:t>
              </a:r>
            </a:p>
          </p:txBody>
        </p:sp>
      </p:grpSp>
      <p:grpSp>
        <p:nvGrpSpPr>
          <p:cNvPr id="2" name="Grupo 1"/>
          <p:cNvGrpSpPr/>
          <p:nvPr/>
        </p:nvGrpSpPr>
        <p:grpSpPr>
          <a:xfrm>
            <a:off x="3218939" y="2422081"/>
            <a:ext cx="805849" cy="792449"/>
            <a:chOff x="4016799" y="2422081"/>
            <a:chExt cx="805849" cy="792449"/>
          </a:xfrm>
        </p:grpSpPr>
        <p:sp>
          <p:nvSpPr>
            <p:cNvPr id="158" name="CuadroTexto 157"/>
            <p:cNvSpPr txBox="1"/>
            <p:nvPr/>
          </p:nvSpPr>
          <p:spPr>
            <a:xfrm>
              <a:off x="4016799" y="2422081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>
                  <a:solidFill>
                    <a:srgbClr val="006666"/>
                  </a:solidFill>
                </a:rPr>
                <a:t>X</a:t>
              </a:r>
            </a:p>
          </p:txBody>
        </p:sp>
        <p:grpSp>
          <p:nvGrpSpPr>
            <p:cNvPr id="159" name="Grupo 158"/>
            <p:cNvGrpSpPr/>
            <p:nvPr/>
          </p:nvGrpSpPr>
          <p:grpSpPr>
            <a:xfrm>
              <a:off x="4047770" y="2449018"/>
              <a:ext cx="748146" cy="748146"/>
              <a:chOff x="1341912" y="2501375"/>
              <a:chExt cx="748146" cy="748146"/>
            </a:xfrm>
          </p:grpSpPr>
          <p:sp>
            <p:nvSpPr>
              <p:cNvPr id="160" name="Rectángulo 159"/>
              <p:cNvSpPr/>
              <p:nvPr/>
            </p:nvSpPr>
            <p:spPr>
              <a:xfrm>
                <a:off x="1341912" y="2501375"/>
                <a:ext cx="748146" cy="24938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161" name="Rectángulo 160"/>
              <p:cNvSpPr/>
              <p:nvPr/>
            </p:nvSpPr>
            <p:spPr>
              <a:xfrm>
                <a:off x="1341912" y="2750757"/>
                <a:ext cx="748146" cy="24938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162" name="Rectángulo 161"/>
              <p:cNvSpPr/>
              <p:nvPr/>
            </p:nvSpPr>
            <p:spPr>
              <a:xfrm>
                <a:off x="1341912" y="3000139"/>
                <a:ext cx="748146" cy="24938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163" name="Rectángulo 162"/>
              <p:cNvSpPr/>
              <p:nvPr/>
            </p:nvSpPr>
            <p:spPr>
              <a:xfrm rot="5400000">
                <a:off x="1092530" y="2750757"/>
                <a:ext cx="748146" cy="24938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164" name="Rectángulo 163"/>
              <p:cNvSpPr/>
              <p:nvPr/>
            </p:nvSpPr>
            <p:spPr>
              <a:xfrm rot="5400000">
                <a:off x="1341912" y="2750757"/>
                <a:ext cx="748146" cy="24938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165" name="Rectángulo 164"/>
              <p:cNvSpPr/>
              <p:nvPr/>
            </p:nvSpPr>
            <p:spPr>
              <a:xfrm rot="5400000">
                <a:off x="1591294" y="2750757"/>
                <a:ext cx="748146" cy="24938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</p:grpSp>
        <p:sp>
          <p:nvSpPr>
            <p:cNvPr id="166" name="CuadroTexto 165"/>
            <p:cNvSpPr txBox="1"/>
            <p:nvPr/>
          </p:nvSpPr>
          <p:spPr>
            <a:xfrm>
              <a:off x="4538596" y="2889388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>
                  <a:solidFill>
                    <a:srgbClr val="006666"/>
                  </a:solidFill>
                </a:rPr>
                <a:t>X</a:t>
              </a:r>
            </a:p>
          </p:txBody>
        </p:sp>
        <p:sp>
          <p:nvSpPr>
            <p:cNvPr id="167" name="CuadroTexto 166"/>
            <p:cNvSpPr txBox="1"/>
            <p:nvPr/>
          </p:nvSpPr>
          <p:spPr>
            <a:xfrm>
              <a:off x="4026934" y="2906753"/>
              <a:ext cx="30649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>
                  <a:solidFill>
                    <a:srgbClr val="C00000"/>
                  </a:solidFill>
                </a:rPr>
                <a:t>O</a:t>
              </a:r>
            </a:p>
          </p:txBody>
        </p:sp>
        <p:sp>
          <p:nvSpPr>
            <p:cNvPr id="180" name="CuadroTexto 179"/>
            <p:cNvSpPr txBox="1"/>
            <p:nvPr/>
          </p:nvSpPr>
          <p:spPr>
            <a:xfrm>
              <a:off x="4034872" y="2688828"/>
              <a:ext cx="30649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>
                  <a:solidFill>
                    <a:srgbClr val="C00000"/>
                  </a:solidFill>
                </a:rPr>
                <a:t>O</a:t>
              </a:r>
            </a:p>
          </p:txBody>
        </p:sp>
      </p:grpSp>
      <p:sp>
        <p:nvSpPr>
          <p:cNvPr id="183" name="CuadroTexto 182"/>
          <p:cNvSpPr txBox="1"/>
          <p:nvPr/>
        </p:nvSpPr>
        <p:spPr>
          <a:xfrm>
            <a:off x="4116379" y="1964924"/>
            <a:ext cx="1833601" cy="127727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CO" sz="1100" dirty="0">
                <a:solidFill>
                  <a:schemeClr val="accent4">
                    <a:lumMod val="75000"/>
                  </a:schemeClr>
                </a:solidFill>
                <a:highlight>
                  <a:srgbClr val="FFFF00"/>
                </a:highlight>
              </a:rPr>
              <a:t>xh0- 1</a:t>
            </a:r>
            <a:r>
              <a:rPr lang="es-CO" sz="1100">
                <a:solidFill>
                  <a:schemeClr val="accent4">
                    <a:lumMod val="75000"/>
                  </a:schemeClr>
                </a:solidFill>
              </a:rPr>
              <a:t>, xh1– 0, xh2- 1</a:t>
            </a:r>
            <a:endParaRPr lang="es-CO" sz="1100" dirty="0">
              <a:solidFill>
                <a:schemeClr val="accent4">
                  <a:lumMod val="75000"/>
                </a:schemeClr>
              </a:solidFill>
              <a:ea typeface="Calibri"/>
              <a:cs typeface="Calibri"/>
            </a:endParaRPr>
          </a:p>
          <a:p>
            <a:r>
              <a:rPr lang="es-CO" sz="1100">
                <a:solidFill>
                  <a:schemeClr val="accent2">
                    <a:lumMod val="75000"/>
                  </a:schemeClr>
                </a:solidFill>
              </a:rPr>
              <a:t>xv0- 1, </a:t>
            </a:r>
            <a:r>
              <a:rPr lang="es-CO" sz="1100">
                <a:solidFill>
                  <a:schemeClr val="accent2">
                    <a:lumMod val="75000"/>
                  </a:schemeClr>
                </a:solidFill>
                <a:highlight>
                  <a:srgbClr val="FFFF00"/>
                </a:highlight>
              </a:rPr>
              <a:t>xv1- 0</a:t>
            </a:r>
            <a:r>
              <a:rPr lang="es-CO" sz="1100">
                <a:solidFill>
                  <a:schemeClr val="accent2">
                    <a:lumMod val="75000"/>
                  </a:schemeClr>
                </a:solidFill>
              </a:rPr>
              <a:t>, </a:t>
            </a:r>
            <a:r>
              <a:rPr lang="es-CO" sz="1100">
                <a:solidFill>
                  <a:schemeClr val="accent2">
                    <a:lumMod val="75000"/>
                  </a:schemeClr>
                </a:solidFill>
                <a:highlight>
                  <a:srgbClr val="FFFF00"/>
                </a:highlight>
              </a:rPr>
              <a:t>xv2- 1</a:t>
            </a:r>
            <a:endParaRPr lang="es-CO" sz="1100" dirty="0">
              <a:solidFill>
                <a:schemeClr val="accent2">
                  <a:lumMod val="75000"/>
                </a:schemeClr>
              </a:solidFill>
              <a:highlight>
                <a:srgbClr val="FFFF00"/>
              </a:highlight>
              <a:ea typeface="Calibri"/>
              <a:cs typeface="Calibri"/>
            </a:endParaRPr>
          </a:p>
          <a:p>
            <a:r>
              <a:rPr lang="es-CO" sz="1100" dirty="0" err="1">
                <a:solidFill>
                  <a:srgbClr val="7030A0"/>
                </a:solidFill>
                <a:highlight>
                  <a:srgbClr val="FFFF00"/>
                </a:highlight>
              </a:rPr>
              <a:t>xdp</a:t>
            </a:r>
            <a:r>
              <a:rPr lang="es-CO" sz="1100" dirty="0">
                <a:solidFill>
                  <a:srgbClr val="7030A0"/>
                </a:solidFill>
                <a:highlight>
                  <a:srgbClr val="FFFF00"/>
                </a:highlight>
              </a:rPr>
              <a:t>- 2</a:t>
            </a:r>
            <a:r>
              <a:rPr lang="es-CO" sz="1100" dirty="0">
                <a:solidFill>
                  <a:srgbClr val="7030A0"/>
                </a:solidFill>
              </a:rPr>
              <a:t>, </a:t>
            </a:r>
            <a:r>
              <a:rPr lang="es-CO" sz="1100" dirty="0" err="1">
                <a:solidFill>
                  <a:srgbClr val="7030A0"/>
                </a:solidFill>
              </a:rPr>
              <a:t>xds</a:t>
            </a:r>
            <a:r>
              <a:rPr lang="es-CO" sz="1100" dirty="0">
                <a:solidFill>
                  <a:srgbClr val="7030A0"/>
                </a:solidFill>
              </a:rPr>
              <a:t>- 0</a:t>
            </a:r>
            <a:endParaRPr lang="es-CO" sz="1100" dirty="0">
              <a:solidFill>
                <a:srgbClr val="7030A0"/>
              </a:solidFill>
              <a:ea typeface="Calibri"/>
              <a:cs typeface="Calibri"/>
            </a:endParaRPr>
          </a:p>
          <a:p>
            <a:r>
              <a:rPr lang="es-CO" sz="1100" dirty="0">
                <a:solidFill>
                  <a:srgbClr val="FF0000"/>
                </a:solidFill>
                <a:highlight>
                  <a:srgbClr val="FFFF00"/>
                </a:highlight>
                <a:ea typeface="Calibri"/>
                <a:cs typeface="Calibri"/>
              </a:rPr>
              <a:t>oh0- 0</a:t>
            </a:r>
            <a:r>
              <a:rPr lang="es-CO" sz="1100">
                <a:solidFill>
                  <a:srgbClr val="FF0000"/>
                </a:solidFill>
                <a:ea typeface="Calibri"/>
                <a:cs typeface="Calibri"/>
              </a:rPr>
              <a:t>, oh1- 1, oh2- 1  </a:t>
            </a:r>
          </a:p>
          <a:p>
            <a:r>
              <a:rPr lang="es-CO" sz="1100" dirty="0">
                <a:solidFill>
                  <a:srgbClr val="00B050"/>
                </a:solidFill>
              </a:rPr>
              <a:t>ov0- 2, </a:t>
            </a:r>
            <a:r>
              <a:rPr lang="es-CO" sz="1100" dirty="0">
                <a:solidFill>
                  <a:srgbClr val="00B050"/>
                </a:solidFill>
                <a:highlight>
                  <a:srgbClr val="FFFF00"/>
                </a:highlight>
              </a:rPr>
              <a:t>ov1- 0</a:t>
            </a:r>
            <a:r>
              <a:rPr lang="es-CO" sz="1100">
                <a:solidFill>
                  <a:srgbClr val="00B050"/>
                </a:solidFill>
              </a:rPr>
              <a:t>, </a:t>
            </a:r>
            <a:r>
              <a:rPr lang="es-CO" sz="1100">
                <a:solidFill>
                  <a:srgbClr val="00B050"/>
                </a:solidFill>
                <a:highlight>
                  <a:srgbClr val="FFFF00"/>
                </a:highlight>
              </a:rPr>
              <a:t>ov2- 0</a:t>
            </a:r>
            <a:endParaRPr lang="es-CO" sz="1100">
              <a:solidFill>
                <a:srgbClr val="00B050"/>
              </a:solidFill>
              <a:highlight>
                <a:srgbClr val="FFFF00"/>
              </a:highlight>
              <a:ea typeface="Calibri"/>
              <a:cs typeface="Calibri"/>
            </a:endParaRPr>
          </a:p>
          <a:p>
            <a:r>
              <a:rPr lang="es-CO" sz="1100" dirty="0" err="1">
                <a:solidFill>
                  <a:schemeClr val="accent1">
                    <a:lumMod val="49000"/>
                  </a:schemeClr>
                </a:solidFill>
                <a:highlight>
                  <a:srgbClr val="FFFF00"/>
                </a:highlight>
              </a:rPr>
              <a:t>odp</a:t>
            </a:r>
            <a:r>
              <a:rPr lang="es-CO" sz="1100" dirty="0">
                <a:solidFill>
                  <a:schemeClr val="accent1">
                    <a:lumMod val="49000"/>
                  </a:schemeClr>
                </a:solidFill>
                <a:highlight>
                  <a:srgbClr val="FFFF00"/>
                </a:highlight>
              </a:rPr>
              <a:t>- 0</a:t>
            </a:r>
            <a:r>
              <a:rPr lang="es-CO" sz="1100" dirty="0">
                <a:solidFill>
                  <a:schemeClr val="accent1">
                    <a:lumMod val="49000"/>
                  </a:schemeClr>
                </a:solidFill>
              </a:rPr>
              <a:t>, </a:t>
            </a:r>
            <a:r>
              <a:rPr lang="es-CO" sz="1100" dirty="0" err="1">
                <a:solidFill>
                  <a:schemeClr val="accent1">
                    <a:lumMod val="49000"/>
                  </a:schemeClr>
                </a:solidFill>
              </a:rPr>
              <a:t>ods</a:t>
            </a:r>
            <a:r>
              <a:rPr lang="es-CO" sz="1100" dirty="0">
                <a:solidFill>
                  <a:schemeClr val="accent1">
                    <a:lumMod val="49000"/>
                  </a:schemeClr>
                </a:solidFill>
              </a:rPr>
              <a:t>-</a:t>
            </a:r>
            <a:r>
              <a:rPr lang="es-CO" sz="1100" dirty="0">
                <a:solidFill>
                  <a:schemeClr val="accent1">
                    <a:lumMod val="49000"/>
                  </a:schemeClr>
                </a:solidFill>
                <a:ea typeface="Calibri"/>
                <a:cs typeface="Calibri"/>
              </a:rPr>
              <a:t> 1</a:t>
            </a:r>
          </a:p>
          <a:p>
            <a:r>
              <a:rPr lang="es-CO" sz="1100">
                <a:solidFill>
                  <a:srgbClr val="0070C0"/>
                </a:solidFill>
              </a:rPr>
              <a:t>H= 10 + 1 + 10 + 100 = 122</a:t>
            </a:r>
            <a:endParaRPr lang="es-CO" sz="1100">
              <a:solidFill>
                <a:srgbClr val="0070C0"/>
              </a:solidFill>
              <a:ea typeface="Calibri"/>
              <a:cs typeface="Calibri"/>
            </a:endParaRPr>
          </a:p>
        </p:txBody>
      </p:sp>
      <p:sp>
        <p:nvSpPr>
          <p:cNvPr id="6" name="CuadroTexto 5"/>
          <p:cNvSpPr txBox="1"/>
          <p:nvPr/>
        </p:nvSpPr>
        <p:spPr>
          <a:xfrm>
            <a:off x="1679280" y="6283875"/>
            <a:ext cx="4071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>
                <a:solidFill>
                  <a:srgbClr val="C00000"/>
                </a:solidFill>
              </a:rPr>
              <a:t>Cuál jugada es mejor para el jugador O ??</a:t>
            </a:r>
          </a:p>
        </p:txBody>
      </p:sp>
      <p:pic>
        <p:nvPicPr>
          <p:cNvPr id="67" name="Marcador de contenido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5967"/>
          <a:stretch/>
        </p:blipFill>
        <p:spPr>
          <a:xfrm>
            <a:off x="1398" y="4652"/>
            <a:ext cx="12201128" cy="1649377"/>
          </a:xfrm>
        </p:spPr>
      </p:pic>
      <p:sp>
        <p:nvSpPr>
          <p:cNvPr id="68" name="Rectángulo 67"/>
          <p:cNvSpPr/>
          <p:nvPr/>
        </p:nvSpPr>
        <p:spPr>
          <a:xfrm>
            <a:off x="1343310" y="593072"/>
            <a:ext cx="7172696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_tradnl" sz="3000" b="1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Taller 4-1 – Triqui Heurística</a:t>
            </a:r>
          </a:p>
        </p:txBody>
      </p:sp>
      <p:sp>
        <p:nvSpPr>
          <p:cNvPr id="16" name="CuadroTexto 182">
            <a:extLst>
              <a:ext uri="{FF2B5EF4-FFF2-40B4-BE49-F238E27FC236}">
                <a16:creationId xmlns:a16="http://schemas.microsoft.com/office/drawing/2014/main" id="{52A3E8F0-C76C-4642-089F-270006875608}"/>
              </a:ext>
            </a:extLst>
          </p:cNvPr>
          <p:cNvSpPr txBox="1"/>
          <p:nvPr/>
        </p:nvSpPr>
        <p:spPr>
          <a:xfrm>
            <a:off x="4116379" y="3327559"/>
            <a:ext cx="1986002" cy="127727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CO" sz="1100">
                <a:solidFill>
                  <a:schemeClr val="accent4">
                    <a:lumMod val="75000"/>
                  </a:schemeClr>
                </a:solidFill>
              </a:rPr>
              <a:t>xh0- 1, </a:t>
            </a:r>
            <a:r>
              <a:rPr lang="es-CO" sz="1100">
                <a:solidFill>
                  <a:schemeClr val="accent4">
                    <a:lumMod val="75000"/>
                  </a:schemeClr>
                </a:solidFill>
                <a:highlight>
                  <a:srgbClr val="FFFF00"/>
                </a:highlight>
              </a:rPr>
              <a:t>xh1– 0</a:t>
            </a:r>
            <a:r>
              <a:rPr lang="es-CO" sz="1100">
                <a:solidFill>
                  <a:schemeClr val="accent4">
                    <a:lumMod val="75000"/>
                  </a:schemeClr>
                </a:solidFill>
              </a:rPr>
              <a:t>, xh2- 1</a:t>
            </a:r>
            <a:endParaRPr lang="es-CO" sz="1100">
              <a:solidFill>
                <a:schemeClr val="accent4">
                  <a:lumMod val="75000"/>
                </a:schemeClr>
              </a:solidFill>
              <a:ea typeface="Calibri"/>
              <a:cs typeface="Calibri"/>
            </a:endParaRPr>
          </a:p>
          <a:p>
            <a:r>
              <a:rPr lang="es-CO" sz="1100">
                <a:solidFill>
                  <a:schemeClr val="accent2">
                    <a:lumMod val="75000"/>
                  </a:schemeClr>
                </a:solidFill>
              </a:rPr>
              <a:t>xv0- 1, </a:t>
            </a:r>
            <a:r>
              <a:rPr lang="es-CO" sz="1100">
                <a:solidFill>
                  <a:schemeClr val="accent2">
                    <a:lumMod val="75000"/>
                  </a:schemeClr>
                </a:solidFill>
                <a:highlight>
                  <a:srgbClr val="FFFF00"/>
                </a:highlight>
              </a:rPr>
              <a:t>xv1- 0</a:t>
            </a:r>
            <a:r>
              <a:rPr lang="es-CO" sz="1100">
                <a:solidFill>
                  <a:schemeClr val="accent2">
                    <a:lumMod val="75000"/>
                  </a:schemeClr>
                </a:solidFill>
              </a:rPr>
              <a:t>, xv2- 1</a:t>
            </a:r>
            <a:endParaRPr lang="es-CO" sz="1100">
              <a:solidFill>
                <a:schemeClr val="accent2">
                  <a:lumMod val="75000"/>
                </a:schemeClr>
              </a:solidFill>
              <a:ea typeface="Calibri"/>
              <a:cs typeface="Calibri"/>
            </a:endParaRPr>
          </a:p>
          <a:p>
            <a:r>
              <a:rPr lang="es-CO" sz="1100" dirty="0" err="1">
                <a:solidFill>
                  <a:srgbClr val="7030A0"/>
                </a:solidFill>
                <a:highlight>
                  <a:srgbClr val="FFFF00"/>
                </a:highlight>
              </a:rPr>
              <a:t>xdp</a:t>
            </a:r>
            <a:r>
              <a:rPr lang="es-CO" sz="1100" dirty="0">
                <a:solidFill>
                  <a:srgbClr val="7030A0"/>
                </a:solidFill>
                <a:highlight>
                  <a:srgbClr val="FFFF00"/>
                </a:highlight>
              </a:rPr>
              <a:t>- 2</a:t>
            </a:r>
            <a:r>
              <a:rPr lang="es-CO" sz="1100" dirty="0">
                <a:solidFill>
                  <a:srgbClr val="7030A0"/>
                </a:solidFill>
              </a:rPr>
              <a:t>, </a:t>
            </a:r>
            <a:r>
              <a:rPr lang="es-CO" sz="1100" dirty="0" err="1">
                <a:solidFill>
                  <a:srgbClr val="7030A0"/>
                </a:solidFill>
              </a:rPr>
              <a:t>xds</a:t>
            </a:r>
            <a:r>
              <a:rPr lang="es-CO" sz="1100" dirty="0">
                <a:solidFill>
                  <a:srgbClr val="7030A0"/>
                </a:solidFill>
              </a:rPr>
              <a:t>- 0</a:t>
            </a:r>
            <a:endParaRPr lang="es-CO" sz="1100" dirty="0">
              <a:solidFill>
                <a:schemeClr val="accent4">
                  <a:lumMod val="75000"/>
                </a:schemeClr>
              </a:solidFill>
              <a:ea typeface="Calibri"/>
              <a:cs typeface="Calibri"/>
            </a:endParaRPr>
          </a:p>
          <a:p>
            <a:r>
              <a:rPr lang="es-CO" sz="1100" dirty="0">
                <a:solidFill>
                  <a:srgbClr val="FF0000"/>
                </a:solidFill>
                <a:ea typeface="Calibri"/>
                <a:cs typeface="Calibri"/>
              </a:rPr>
              <a:t>oh0- 1, </a:t>
            </a:r>
            <a:r>
              <a:rPr lang="es-CO" sz="1100" dirty="0">
                <a:solidFill>
                  <a:srgbClr val="FF0000"/>
                </a:solidFill>
                <a:highlight>
                  <a:srgbClr val="FFFF00"/>
                </a:highlight>
                <a:ea typeface="Calibri"/>
                <a:cs typeface="Calibri"/>
              </a:rPr>
              <a:t>oh1- 0</a:t>
            </a:r>
            <a:r>
              <a:rPr lang="es-CO" sz="1100">
                <a:solidFill>
                  <a:srgbClr val="FF0000"/>
                </a:solidFill>
                <a:ea typeface="Calibri"/>
                <a:cs typeface="Calibri"/>
              </a:rPr>
              <a:t>, oh2- 1  </a:t>
            </a:r>
            <a:endParaRPr lang="en-US" sz="1100">
              <a:solidFill>
                <a:schemeClr val="accent4">
                  <a:lumMod val="75000"/>
                </a:schemeClr>
              </a:solidFill>
              <a:ea typeface="Calibri"/>
              <a:cs typeface="Calibri"/>
            </a:endParaRPr>
          </a:p>
          <a:p>
            <a:r>
              <a:rPr lang="es-CO" sz="1100" dirty="0">
                <a:solidFill>
                  <a:srgbClr val="00B050"/>
                </a:solidFill>
                <a:ea typeface="Calibri"/>
                <a:cs typeface="Calibri"/>
              </a:rPr>
              <a:t>ov0- 1, </a:t>
            </a:r>
            <a:r>
              <a:rPr lang="es-CO" sz="1100" dirty="0">
                <a:solidFill>
                  <a:srgbClr val="00B050"/>
                </a:solidFill>
                <a:highlight>
                  <a:srgbClr val="FFFF00"/>
                </a:highlight>
                <a:ea typeface="Calibri"/>
                <a:cs typeface="Calibri"/>
              </a:rPr>
              <a:t>ov1- 0</a:t>
            </a:r>
            <a:r>
              <a:rPr lang="es-CO" sz="1100">
                <a:solidFill>
                  <a:srgbClr val="00B050"/>
                </a:solidFill>
                <a:ea typeface="Calibri"/>
                <a:cs typeface="Calibri"/>
              </a:rPr>
              <a:t>, ov2- 1</a:t>
            </a:r>
            <a:endParaRPr lang="es-CO" sz="1100">
              <a:solidFill>
                <a:schemeClr val="accent4">
                  <a:lumMod val="75000"/>
                </a:schemeClr>
              </a:solidFill>
              <a:ea typeface="Calibri"/>
              <a:cs typeface="Calibri"/>
            </a:endParaRPr>
          </a:p>
          <a:p>
            <a:r>
              <a:rPr lang="es-CO" sz="1100" dirty="0" err="1">
                <a:solidFill>
                  <a:schemeClr val="accent1">
                    <a:lumMod val="49000"/>
                  </a:schemeClr>
                </a:solidFill>
                <a:highlight>
                  <a:srgbClr val="FFFF00"/>
                </a:highlight>
              </a:rPr>
              <a:t>odp</a:t>
            </a:r>
            <a:r>
              <a:rPr lang="es-CO" sz="1100" dirty="0">
                <a:solidFill>
                  <a:schemeClr val="accent1">
                    <a:lumMod val="49000"/>
                  </a:schemeClr>
                </a:solidFill>
                <a:highlight>
                  <a:srgbClr val="FFFF00"/>
                </a:highlight>
              </a:rPr>
              <a:t>- 0</a:t>
            </a:r>
            <a:r>
              <a:rPr lang="es-CO" sz="1100" dirty="0">
                <a:solidFill>
                  <a:schemeClr val="accent1">
                    <a:lumMod val="49000"/>
                  </a:schemeClr>
                </a:solidFill>
              </a:rPr>
              <a:t>, </a:t>
            </a:r>
            <a:r>
              <a:rPr lang="es-CO" sz="1100" dirty="0" err="1">
                <a:solidFill>
                  <a:schemeClr val="accent1">
                    <a:lumMod val="49000"/>
                  </a:schemeClr>
                </a:solidFill>
              </a:rPr>
              <a:t>ods</a:t>
            </a:r>
            <a:r>
              <a:rPr lang="es-CO" sz="1100" dirty="0">
                <a:solidFill>
                  <a:schemeClr val="accent1">
                    <a:lumMod val="49000"/>
                  </a:schemeClr>
                </a:solidFill>
              </a:rPr>
              <a:t>- 2</a:t>
            </a:r>
            <a:endParaRPr lang="es-CO" dirty="0">
              <a:solidFill>
                <a:schemeClr val="accent1">
                  <a:lumMod val="49000"/>
                </a:schemeClr>
              </a:solidFill>
              <a:ea typeface="Calibri"/>
              <a:cs typeface="Calibri"/>
            </a:endParaRPr>
          </a:p>
          <a:p>
            <a:r>
              <a:rPr lang="es-CO" sz="1100">
                <a:solidFill>
                  <a:srgbClr val="0070C0"/>
                </a:solidFill>
              </a:rPr>
              <a:t>H= 1 + 1 + 100 = 102</a:t>
            </a:r>
            <a:endParaRPr lang="es-CO" sz="1100">
              <a:solidFill>
                <a:srgbClr val="0070C0"/>
              </a:solidFill>
              <a:ea typeface="Calibri"/>
              <a:cs typeface="Calibri"/>
            </a:endParaRPr>
          </a:p>
        </p:txBody>
      </p:sp>
      <p:sp>
        <p:nvSpPr>
          <p:cNvPr id="19" name="CuadroTexto 182">
            <a:extLst>
              <a:ext uri="{FF2B5EF4-FFF2-40B4-BE49-F238E27FC236}">
                <a16:creationId xmlns:a16="http://schemas.microsoft.com/office/drawing/2014/main" id="{E4C22A41-CFAD-ECD5-325B-93755D99EF5B}"/>
              </a:ext>
            </a:extLst>
          </p:cNvPr>
          <p:cNvSpPr txBox="1"/>
          <p:nvPr/>
        </p:nvSpPr>
        <p:spPr>
          <a:xfrm>
            <a:off x="4107414" y="4869488"/>
            <a:ext cx="1842566" cy="127727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CO" sz="1100">
                <a:solidFill>
                  <a:schemeClr val="accent4">
                    <a:lumMod val="75000"/>
                  </a:schemeClr>
                </a:solidFill>
                <a:highlight>
                  <a:srgbClr val="FFFF00"/>
                </a:highlight>
              </a:rPr>
              <a:t>xh0- 1</a:t>
            </a:r>
            <a:r>
              <a:rPr lang="es-CO" sz="1100">
                <a:solidFill>
                  <a:schemeClr val="accent4">
                    <a:lumMod val="75000"/>
                  </a:schemeClr>
                </a:solidFill>
              </a:rPr>
              <a:t>, xh1 – 0, xh2- 1</a:t>
            </a:r>
            <a:endParaRPr lang="es-CO" sz="1100">
              <a:solidFill>
                <a:schemeClr val="accent4">
                  <a:lumMod val="75000"/>
                </a:schemeClr>
              </a:solidFill>
              <a:ea typeface="Calibri"/>
              <a:cs typeface="Calibri"/>
            </a:endParaRPr>
          </a:p>
          <a:p>
            <a:r>
              <a:rPr lang="es-CO" sz="1100">
                <a:solidFill>
                  <a:schemeClr val="accent2">
                    <a:lumMod val="75000"/>
                  </a:schemeClr>
                </a:solidFill>
              </a:rPr>
              <a:t>xv0- 1, xv1- 0, </a:t>
            </a:r>
            <a:r>
              <a:rPr lang="es-CO" sz="1100">
                <a:solidFill>
                  <a:schemeClr val="accent2">
                    <a:lumMod val="75000"/>
                  </a:schemeClr>
                </a:solidFill>
                <a:highlight>
                  <a:srgbClr val="FFFF00"/>
                </a:highlight>
              </a:rPr>
              <a:t>xv2- 1</a:t>
            </a:r>
            <a:endParaRPr lang="es-CO" sz="1100">
              <a:solidFill>
                <a:schemeClr val="accent2">
                  <a:lumMod val="75000"/>
                </a:schemeClr>
              </a:solidFill>
              <a:highlight>
                <a:srgbClr val="FFFF00"/>
              </a:highlight>
              <a:ea typeface="Calibri"/>
              <a:cs typeface="Calibri"/>
            </a:endParaRPr>
          </a:p>
          <a:p>
            <a:r>
              <a:rPr lang="es-CO" sz="1100" dirty="0" err="1">
                <a:solidFill>
                  <a:srgbClr val="7030A0"/>
                </a:solidFill>
              </a:rPr>
              <a:t>xdp</a:t>
            </a:r>
            <a:r>
              <a:rPr lang="es-CO" sz="1100" dirty="0">
                <a:solidFill>
                  <a:srgbClr val="7030A0"/>
                </a:solidFill>
              </a:rPr>
              <a:t>- 2, </a:t>
            </a:r>
            <a:r>
              <a:rPr lang="es-CO" sz="1100" dirty="0" err="1">
                <a:solidFill>
                  <a:srgbClr val="7030A0"/>
                </a:solidFill>
              </a:rPr>
              <a:t>xds</a:t>
            </a:r>
            <a:r>
              <a:rPr lang="es-CO" sz="1100" dirty="0">
                <a:solidFill>
                  <a:srgbClr val="7030A0"/>
                </a:solidFill>
              </a:rPr>
              <a:t>- 0</a:t>
            </a:r>
            <a:endParaRPr lang="es-CO" sz="1100" dirty="0">
              <a:solidFill>
                <a:schemeClr val="accent4">
                  <a:lumMod val="75000"/>
                </a:schemeClr>
              </a:solidFill>
              <a:ea typeface="Calibri"/>
              <a:cs typeface="Calibri"/>
            </a:endParaRPr>
          </a:p>
          <a:p>
            <a:r>
              <a:rPr lang="es-CO" sz="1100" dirty="0">
                <a:solidFill>
                  <a:srgbClr val="FF0000"/>
                </a:solidFill>
                <a:highlight>
                  <a:srgbClr val="FFFF00"/>
                </a:highlight>
                <a:ea typeface="Calibri"/>
                <a:cs typeface="Calibri"/>
              </a:rPr>
              <a:t>oh0- 0</a:t>
            </a:r>
            <a:r>
              <a:rPr lang="es-CO" sz="1100">
                <a:solidFill>
                  <a:srgbClr val="FF0000"/>
                </a:solidFill>
                <a:ea typeface="Calibri"/>
                <a:cs typeface="Calibri"/>
              </a:rPr>
              <a:t>, oh1- 1, oh2- 1  </a:t>
            </a:r>
            <a:endParaRPr lang="en-US" sz="1100">
              <a:solidFill>
                <a:schemeClr val="accent4">
                  <a:lumMod val="75000"/>
                </a:schemeClr>
              </a:solidFill>
              <a:ea typeface="Calibri"/>
              <a:cs typeface="Calibri"/>
            </a:endParaRPr>
          </a:p>
          <a:p>
            <a:r>
              <a:rPr lang="es-CO" sz="1100">
                <a:solidFill>
                  <a:srgbClr val="00B050"/>
                </a:solidFill>
                <a:ea typeface="Calibri"/>
                <a:cs typeface="Calibri"/>
              </a:rPr>
              <a:t>ov0- 1, ov1- 1, </a:t>
            </a:r>
            <a:r>
              <a:rPr lang="es-CO" sz="1100" dirty="0">
                <a:solidFill>
                  <a:srgbClr val="00B050"/>
                </a:solidFill>
                <a:highlight>
                  <a:srgbClr val="FFFF00"/>
                </a:highlight>
                <a:ea typeface="Calibri"/>
                <a:cs typeface="Calibri"/>
              </a:rPr>
              <a:t>ov2- 0</a:t>
            </a:r>
            <a:endParaRPr lang="es-CO" sz="1100" dirty="0">
              <a:solidFill>
                <a:schemeClr val="accent4">
                  <a:lumMod val="75000"/>
                </a:schemeClr>
              </a:solidFill>
              <a:highlight>
                <a:srgbClr val="FFFF00"/>
              </a:highlight>
              <a:ea typeface="Calibri"/>
              <a:cs typeface="Calibri"/>
            </a:endParaRPr>
          </a:p>
          <a:p>
            <a:r>
              <a:rPr lang="es-CO" sz="1100" dirty="0" err="1">
                <a:solidFill>
                  <a:schemeClr val="accent1">
                    <a:lumMod val="49000"/>
                  </a:schemeClr>
                </a:solidFill>
              </a:rPr>
              <a:t>odp</a:t>
            </a:r>
            <a:r>
              <a:rPr lang="es-CO" sz="1100" dirty="0">
                <a:solidFill>
                  <a:schemeClr val="accent1">
                    <a:lumMod val="49000"/>
                  </a:schemeClr>
                </a:solidFill>
              </a:rPr>
              <a:t>- 1, </a:t>
            </a:r>
            <a:r>
              <a:rPr lang="es-CO" sz="1100" dirty="0" err="1">
                <a:solidFill>
                  <a:schemeClr val="accent1">
                    <a:lumMod val="49000"/>
                  </a:schemeClr>
                </a:solidFill>
              </a:rPr>
              <a:t>ods</a:t>
            </a:r>
            <a:r>
              <a:rPr lang="es-CO" sz="1100" dirty="0">
                <a:solidFill>
                  <a:schemeClr val="accent1">
                    <a:lumMod val="49000"/>
                  </a:schemeClr>
                </a:solidFill>
              </a:rPr>
              <a:t>- 2</a:t>
            </a:r>
            <a:endParaRPr lang="es-CO" sz="1100" dirty="0">
              <a:solidFill>
                <a:schemeClr val="accent1">
                  <a:lumMod val="49000"/>
                </a:schemeClr>
              </a:solidFill>
              <a:ea typeface="Calibri"/>
              <a:cs typeface="Calibri"/>
            </a:endParaRPr>
          </a:p>
          <a:p>
            <a:r>
              <a:rPr lang="es-CO" sz="1100">
                <a:solidFill>
                  <a:srgbClr val="0070C0"/>
                </a:solidFill>
                <a:ea typeface="Calibri"/>
                <a:cs typeface="Calibri"/>
              </a:rPr>
              <a:t>H= 10 + 10 = 20</a:t>
            </a:r>
            <a:endParaRPr lang="es-CO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98774B-B993-922F-E70B-69686F402E8C}"/>
              </a:ext>
            </a:extLst>
          </p:cNvPr>
          <p:cNvSpPr txBox="1"/>
          <p:nvPr/>
        </p:nvSpPr>
        <p:spPr>
          <a:xfrm>
            <a:off x="1228165" y="3635187"/>
            <a:ext cx="457200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CO" sz="1100">
                <a:latin typeface="Calibri"/>
                <a:ea typeface="Calibri"/>
                <a:cs typeface="Calibri"/>
              </a:rPr>
              <a:t>h0</a:t>
            </a:r>
            <a:endParaRPr lang="en-US">
              <a:latin typeface="Calibri"/>
              <a:ea typeface="Calibri"/>
              <a:cs typeface="Calibri"/>
            </a:endParaRPr>
          </a:p>
          <a:p>
            <a:endParaRPr lang="es-CO" sz="1100" dirty="0">
              <a:ea typeface="Calibri"/>
              <a:cs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813324-9362-6EB2-365C-60D2C915BFD4}"/>
              </a:ext>
            </a:extLst>
          </p:cNvPr>
          <p:cNvSpPr txBox="1"/>
          <p:nvPr/>
        </p:nvSpPr>
        <p:spPr>
          <a:xfrm>
            <a:off x="1228165" y="3931022"/>
            <a:ext cx="457200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CO" sz="1100">
                <a:latin typeface="Calibri"/>
                <a:ea typeface="Calibri"/>
                <a:cs typeface="Calibri"/>
              </a:rPr>
              <a:t>h1</a:t>
            </a:r>
            <a:endParaRPr lang="en-US">
              <a:latin typeface="Calibri"/>
              <a:ea typeface="Calibri"/>
              <a:cs typeface="Calibri"/>
            </a:endParaRPr>
          </a:p>
          <a:p>
            <a:endParaRPr lang="es-CO" sz="1100" dirty="0">
              <a:ea typeface="Calibri"/>
              <a:cs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9A7A11-BD52-B5A8-FBB0-494745B6771A}"/>
              </a:ext>
            </a:extLst>
          </p:cNvPr>
          <p:cNvSpPr txBox="1"/>
          <p:nvPr/>
        </p:nvSpPr>
        <p:spPr>
          <a:xfrm>
            <a:off x="1228164" y="4173069"/>
            <a:ext cx="457200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CO" sz="1100">
                <a:latin typeface="Calibri"/>
                <a:ea typeface="Calibri"/>
                <a:cs typeface="Calibri"/>
              </a:rPr>
              <a:t>h2</a:t>
            </a:r>
            <a:endParaRPr lang="en-US">
              <a:latin typeface="Calibri"/>
              <a:ea typeface="Calibri"/>
              <a:cs typeface="Calibri"/>
            </a:endParaRPr>
          </a:p>
          <a:p>
            <a:endParaRPr lang="es-CO" sz="1100" dirty="0">
              <a:ea typeface="Calibri"/>
              <a:cs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000E08A-08B0-48B9-BF58-4AD1CEC1D3E8}"/>
              </a:ext>
            </a:extLst>
          </p:cNvPr>
          <p:cNvSpPr txBox="1"/>
          <p:nvPr/>
        </p:nvSpPr>
        <p:spPr>
          <a:xfrm>
            <a:off x="1515035" y="3428998"/>
            <a:ext cx="457200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CO" sz="1100">
                <a:latin typeface="Calibri"/>
                <a:ea typeface="Calibri"/>
                <a:cs typeface="Calibri"/>
              </a:rPr>
              <a:t>v0</a:t>
            </a:r>
            <a:endParaRPr lang="es-CO" sz="1100" dirty="0">
              <a:latin typeface="Calibri"/>
              <a:ea typeface="Calibri"/>
              <a:cs typeface="Calibri"/>
            </a:endParaRPr>
          </a:p>
          <a:p>
            <a:endParaRPr lang="es-CO" sz="1100" dirty="0">
              <a:ea typeface="Calibri"/>
              <a:cs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102598-3EBC-2AE9-9312-05F8CE1D89F9}"/>
              </a:ext>
            </a:extLst>
          </p:cNvPr>
          <p:cNvSpPr txBox="1"/>
          <p:nvPr/>
        </p:nvSpPr>
        <p:spPr>
          <a:xfrm>
            <a:off x="1783976" y="3420033"/>
            <a:ext cx="457200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CO" sz="1100">
                <a:latin typeface="Calibri"/>
                <a:ea typeface="Calibri"/>
                <a:cs typeface="Calibri"/>
              </a:rPr>
              <a:t>v1</a:t>
            </a:r>
            <a:endParaRPr lang="es-CO" sz="1100" dirty="0">
              <a:latin typeface="Calibri"/>
              <a:ea typeface="Calibri"/>
              <a:cs typeface="Calibri"/>
            </a:endParaRPr>
          </a:p>
          <a:p>
            <a:endParaRPr lang="es-CO" sz="1100" dirty="0">
              <a:ea typeface="Calibri"/>
              <a:cs typeface="Calibri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D4EFEF8-7EE1-DB6D-079D-C80555211CB4}"/>
              </a:ext>
            </a:extLst>
          </p:cNvPr>
          <p:cNvSpPr txBox="1"/>
          <p:nvPr/>
        </p:nvSpPr>
        <p:spPr>
          <a:xfrm>
            <a:off x="2034987" y="3428997"/>
            <a:ext cx="457200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CO" sz="1100">
                <a:latin typeface="Calibri"/>
                <a:ea typeface="Calibri"/>
                <a:cs typeface="Calibri"/>
              </a:rPr>
              <a:t>v2</a:t>
            </a:r>
            <a:endParaRPr lang="es-CO" sz="1100" dirty="0">
              <a:latin typeface="Calibri"/>
              <a:ea typeface="Calibri"/>
              <a:cs typeface="Calibri"/>
            </a:endParaRPr>
          </a:p>
          <a:p>
            <a:endParaRPr lang="es-CO" sz="1100" dirty="0">
              <a:ea typeface="Calibri"/>
              <a:cs typeface="Calibri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C8AAD69-5961-8F4F-B923-1C89978CDA3E}"/>
              </a:ext>
            </a:extLst>
          </p:cNvPr>
          <p:cNvCxnSpPr/>
          <p:nvPr/>
        </p:nvCxnSpPr>
        <p:spPr>
          <a:xfrm>
            <a:off x="2266461" y="4523153"/>
            <a:ext cx="703384" cy="1152769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1629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8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8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8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8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8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50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1000"/>
                            </p:stCondLst>
                            <p:childTnLst>
                              <p:par>
                                <p:cTn id="1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1500"/>
                            </p:stCondLst>
                            <p:childTnLst>
                              <p:par>
                                <p:cTn id="1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  <p:bldP spid="183" grpId="0"/>
      <p:bldP spid="6" grpId="0"/>
      <p:bldP spid="16" grpId="0"/>
      <p:bldP spid="1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ángulo 30"/>
          <p:cNvSpPr/>
          <p:nvPr/>
        </p:nvSpPr>
        <p:spPr>
          <a:xfrm>
            <a:off x="1341911" y="583285"/>
            <a:ext cx="7172697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3000" b="1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Ejemplo Árbol de Juego MIN-MAX</a:t>
            </a:r>
          </a:p>
        </p:txBody>
      </p:sp>
      <p:sp>
        <p:nvSpPr>
          <p:cNvPr id="8" name="6 Triángulo isósceles"/>
          <p:cNvSpPr/>
          <p:nvPr/>
        </p:nvSpPr>
        <p:spPr>
          <a:xfrm>
            <a:off x="5432320" y="2060848"/>
            <a:ext cx="648072" cy="648072"/>
          </a:xfrm>
          <a:prstGeom prst="triangl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/>
              <a:t>A</a:t>
            </a:r>
          </a:p>
        </p:txBody>
      </p:sp>
      <p:sp>
        <p:nvSpPr>
          <p:cNvPr id="9" name="7 Triángulo isósceles"/>
          <p:cNvSpPr/>
          <p:nvPr/>
        </p:nvSpPr>
        <p:spPr>
          <a:xfrm>
            <a:off x="1831920" y="5085184"/>
            <a:ext cx="648072" cy="648072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8 Triángulo isósceles"/>
          <p:cNvSpPr/>
          <p:nvPr/>
        </p:nvSpPr>
        <p:spPr>
          <a:xfrm>
            <a:off x="2624008" y="5085184"/>
            <a:ext cx="648072" cy="648072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9 Triángulo isósceles"/>
          <p:cNvSpPr/>
          <p:nvPr/>
        </p:nvSpPr>
        <p:spPr>
          <a:xfrm>
            <a:off x="3344088" y="5085184"/>
            <a:ext cx="648072" cy="648072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" name="16 Triángulo isósceles"/>
          <p:cNvSpPr/>
          <p:nvPr/>
        </p:nvSpPr>
        <p:spPr>
          <a:xfrm rot="10800000">
            <a:off x="2624008" y="3645024"/>
            <a:ext cx="648072" cy="648072"/>
          </a:xfrm>
          <a:prstGeom prst="triangle">
            <a:avLst/>
          </a:prstGeom>
          <a:solidFill>
            <a:srgbClr val="FF99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5" name="17 Triángulo isósceles"/>
          <p:cNvSpPr/>
          <p:nvPr/>
        </p:nvSpPr>
        <p:spPr>
          <a:xfrm rot="10800000">
            <a:off x="5432320" y="3645024"/>
            <a:ext cx="648072" cy="648072"/>
          </a:xfrm>
          <a:prstGeom prst="triangle">
            <a:avLst/>
          </a:prstGeom>
          <a:solidFill>
            <a:srgbClr val="FF99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18 Triángulo isósceles"/>
          <p:cNvSpPr/>
          <p:nvPr/>
        </p:nvSpPr>
        <p:spPr>
          <a:xfrm rot="10800000">
            <a:off x="8096616" y="3645024"/>
            <a:ext cx="648072" cy="648072"/>
          </a:xfrm>
          <a:prstGeom prst="triangle">
            <a:avLst/>
          </a:prstGeom>
          <a:solidFill>
            <a:srgbClr val="FF99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17" name="20 Conector recto de flecha"/>
          <p:cNvCxnSpPr>
            <a:stCxn id="8" idx="2"/>
            <a:endCxn id="14" idx="3"/>
          </p:cNvCxnSpPr>
          <p:nvPr/>
        </p:nvCxnSpPr>
        <p:spPr>
          <a:xfrm flipH="1">
            <a:off x="2948044" y="2708920"/>
            <a:ext cx="2484276" cy="93610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23 Conector recto de flecha"/>
          <p:cNvCxnSpPr>
            <a:stCxn id="8" idx="3"/>
            <a:endCxn id="15" idx="3"/>
          </p:cNvCxnSpPr>
          <p:nvPr/>
        </p:nvCxnSpPr>
        <p:spPr>
          <a:xfrm>
            <a:off x="5756356" y="2708920"/>
            <a:ext cx="0" cy="93610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25 Conector recto de flecha"/>
          <p:cNvCxnSpPr>
            <a:stCxn id="8" idx="4"/>
            <a:endCxn id="16" idx="3"/>
          </p:cNvCxnSpPr>
          <p:nvPr/>
        </p:nvCxnSpPr>
        <p:spPr>
          <a:xfrm>
            <a:off x="6080392" y="2708920"/>
            <a:ext cx="2340260" cy="93610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29 Conector recto"/>
          <p:cNvCxnSpPr>
            <a:stCxn id="14" idx="0"/>
            <a:endCxn id="9" idx="0"/>
          </p:cNvCxnSpPr>
          <p:nvPr/>
        </p:nvCxnSpPr>
        <p:spPr>
          <a:xfrm flipH="1">
            <a:off x="2155956" y="4293096"/>
            <a:ext cx="792088" cy="792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30 Conector recto"/>
          <p:cNvCxnSpPr>
            <a:stCxn id="14" idx="0"/>
            <a:endCxn id="12" idx="0"/>
          </p:cNvCxnSpPr>
          <p:nvPr/>
        </p:nvCxnSpPr>
        <p:spPr>
          <a:xfrm>
            <a:off x="2948044" y="4293096"/>
            <a:ext cx="0" cy="792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33 Conector recto"/>
          <p:cNvCxnSpPr>
            <a:stCxn id="14" idx="0"/>
            <a:endCxn id="13" idx="0"/>
          </p:cNvCxnSpPr>
          <p:nvPr/>
        </p:nvCxnSpPr>
        <p:spPr>
          <a:xfrm>
            <a:off x="2948044" y="4293096"/>
            <a:ext cx="720080" cy="792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36 Triángulo isósceles"/>
          <p:cNvSpPr/>
          <p:nvPr/>
        </p:nvSpPr>
        <p:spPr>
          <a:xfrm>
            <a:off x="4640232" y="5085184"/>
            <a:ext cx="648072" cy="648072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4" name="37 Triángulo isósceles"/>
          <p:cNvSpPr/>
          <p:nvPr/>
        </p:nvSpPr>
        <p:spPr>
          <a:xfrm>
            <a:off x="5432320" y="5085184"/>
            <a:ext cx="648072" cy="648072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5" name="38 Triángulo isósceles"/>
          <p:cNvSpPr/>
          <p:nvPr/>
        </p:nvSpPr>
        <p:spPr>
          <a:xfrm>
            <a:off x="6152400" y="5085184"/>
            <a:ext cx="648072" cy="648072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26" name="39 Conector recto"/>
          <p:cNvCxnSpPr>
            <a:stCxn id="15" idx="0"/>
            <a:endCxn id="23" idx="0"/>
          </p:cNvCxnSpPr>
          <p:nvPr/>
        </p:nvCxnSpPr>
        <p:spPr>
          <a:xfrm flipH="1">
            <a:off x="4964268" y="4293096"/>
            <a:ext cx="792088" cy="792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40 Conector recto"/>
          <p:cNvCxnSpPr>
            <a:stCxn id="15" idx="0"/>
            <a:endCxn id="24" idx="0"/>
          </p:cNvCxnSpPr>
          <p:nvPr/>
        </p:nvCxnSpPr>
        <p:spPr>
          <a:xfrm>
            <a:off x="5756356" y="4293096"/>
            <a:ext cx="0" cy="792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41 Conector recto"/>
          <p:cNvCxnSpPr>
            <a:stCxn id="15" idx="0"/>
            <a:endCxn id="25" idx="0"/>
          </p:cNvCxnSpPr>
          <p:nvPr/>
        </p:nvCxnSpPr>
        <p:spPr>
          <a:xfrm>
            <a:off x="5756356" y="4293096"/>
            <a:ext cx="720080" cy="792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45 Triángulo isósceles"/>
          <p:cNvSpPr/>
          <p:nvPr/>
        </p:nvSpPr>
        <p:spPr>
          <a:xfrm>
            <a:off x="7304528" y="5085184"/>
            <a:ext cx="648072" cy="648072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0" name="46 Triángulo isósceles"/>
          <p:cNvSpPr/>
          <p:nvPr/>
        </p:nvSpPr>
        <p:spPr>
          <a:xfrm>
            <a:off x="8096616" y="5085184"/>
            <a:ext cx="648072" cy="648072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2" name="47 Triángulo isósceles"/>
          <p:cNvSpPr/>
          <p:nvPr/>
        </p:nvSpPr>
        <p:spPr>
          <a:xfrm>
            <a:off x="8816696" y="5085184"/>
            <a:ext cx="648072" cy="648072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33" name="48 Conector recto"/>
          <p:cNvCxnSpPr>
            <a:stCxn id="16" idx="0"/>
            <a:endCxn id="29" idx="0"/>
          </p:cNvCxnSpPr>
          <p:nvPr/>
        </p:nvCxnSpPr>
        <p:spPr>
          <a:xfrm flipH="1">
            <a:off x="7628564" y="4293096"/>
            <a:ext cx="792088" cy="792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49 Conector recto"/>
          <p:cNvCxnSpPr>
            <a:stCxn id="16" idx="0"/>
            <a:endCxn id="30" idx="0"/>
          </p:cNvCxnSpPr>
          <p:nvPr/>
        </p:nvCxnSpPr>
        <p:spPr>
          <a:xfrm>
            <a:off x="8420652" y="4293096"/>
            <a:ext cx="0" cy="792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50 Conector recto"/>
          <p:cNvCxnSpPr>
            <a:stCxn id="16" idx="0"/>
            <a:endCxn id="32" idx="0"/>
          </p:cNvCxnSpPr>
          <p:nvPr/>
        </p:nvCxnSpPr>
        <p:spPr>
          <a:xfrm>
            <a:off x="8420652" y="4293096"/>
            <a:ext cx="720080" cy="792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58 CuadroTexto"/>
          <p:cNvSpPr txBox="1"/>
          <p:nvPr/>
        </p:nvSpPr>
        <p:spPr>
          <a:xfrm>
            <a:off x="2768024" y="3717032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/>
              <a:t>B</a:t>
            </a:r>
          </a:p>
        </p:txBody>
      </p:sp>
      <p:sp>
        <p:nvSpPr>
          <p:cNvPr id="37" name="59 CuadroTexto"/>
          <p:cNvSpPr txBox="1"/>
          <p:nvPr/>
        </p:nvSpPr>
        <p:spPr>
          <a:xfrm>
            <a:off x="5576336" y="3717032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/>
              <a:t>C</a:t>
            </a:r>
          </a:p>
        </p:txBody>
      </p:sp>
      <p:sp>
        <p:nvSpPr>
          <p:cNvPr id="38" name="60 CuadroTexto"/>
          <p:cNvSpPr txBox="1"/>
          <p:nvPr/>
        </p:nvSpPr>
        <p:spPr>
          <a:xfrm>
            <a:off x="8240632" y="3717032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/>
              <a:t>D</a:t>
            </a:r>
          </a:p>
        </p:txBody>
      </p:sp>
      <p:cxnSp>
        <p:nvCxnSpPr>
          <p:cNvPr id="39" name="62 Conector recto"/>
          <p:cNvCxnSpPr/>
          <p:nvPr/>
        </p:nvCxnSpPr>
        <p:spPr>
          <a:xfrm>
            <a:off x="1111840" y="3356992"/>
            <a:ext cx="8820472" cy="0"/>
          </a:xfrm>
          <a:prstGeom prst="line">
            <a:avLst/>
          </a:prstGeom>
          <a:ln w="76200">
            <a:solidFill>
              <a:schemeClr val="accent5"/>
            </a:solidFill>
            <a:prstDash val="sysDot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2" name="67 CuadroTexto"/>
          <p:cNvSpPr txBox="1"/>
          <p:nvPr/>
        </p:nvSpPr>
        <p:spPr>
          <a:xfrm>
            <a:off x="1975936" y="5733256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/>
              <a:t>3</a:t>
            </a:r>
          </a:p>
        </p:txBody>
      </p:sp>
      <p:sp>
        <p:nvSpPr>
          <p:cNvPr id="43" name="68 CuadroTexto"/>
          <p:cNvSpPr txBox="1"/>
          <p:nvPr/>
        </p:nvSpPr>
        <p:spPr>
          <a:xfrm>
            <a:off x="2768024" y="5733256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/>
              <a:t>12</a:t>
            </a:r>
          </a:p>
        </p:txBody>
      </p:sp>
      <p:sp>
        <p:nvSpPr>
          <p:cNvPr id="44" name="69 CuadroTexto"/>
          <p:cNvSpPr txBox="1"/>
          <p:nvPr/>
        </p:nvSpPr>
        <p:spPr>
          <a:xfrm>
            <a:off x="3560112" y="5733256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/>
              <a:t>8</a:t>
            </a:r>
          </a:p>
        </p:txBody>
      </p:sp>
      <p:sp>
        <p:nvSpPr>
          <p:cNvPr id="45" name="70 CuadroTexto"/>
          <p:cNvSpPr txBox="1"/>
          <p:nvPr/>
        </p:nvSpPr>
        <p:spPr>
          <a:xfrm>
            <a:off x="4784248" y="5723964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/>
              <a:t>2</a:t>
            </a:r>
          </a:p>
        </p:txBody>
      </p:sp>
      <p:sp>
        <p:nvSpPr>
          <p:cNvPr id="46" name="71 CuadroTexto"/>
          <p:cNvSpPr txBox="1"/>
          <p:nvPr/>
        </p:nvSpPr>
        <p:spPr>
          <a:xfrm>
            <a:off x="5576336" y="5733256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/>
              <a:t>4</a:t>
            </a:r>
          </a:p>
        </p:txBody>
      </p:sp>
      <p:sp>
        <p:nvSpPr>
          <p:cNvPr id="47" name="72 CuadroTexto"/>
          <p:cNvSpPr txBox="1"/>
          <p:nvPr/>
        </p:nvSpPr>
        <p:spPr>
          <a:xfrm>
            <a:off x="6296416" y="5733256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/>
              <a:t>6</a:t>
            </a:r>
          </a:p>
        </p:txBody>
      </p:sp>
      <p:sp>
        <p:nvSpPr>
          <p:cNvPr id="48" name="73 CuadroTexto"/>
          <p:cNvSpPr txBox="1"/>
          <p:nvPr/>
        </p:nvSpPr>
        <p:spPr>
          <a:xfrm>
            <a:off x="7448544" y="5733256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/>
              <a:t>14</a:t>
            </a:r>
          </a:p>
        </p:txBody>
      </p:sp>
      <p:sp>
        <p:nvSpPr>
          <p:cNvPr id="49" name="74 CuadroTexto"/>
          <p:cNvSpPr txBox="1"/>
          <p:nvPr/>
        </p:nvSpPr>
        <p:spPr>
          <a:xfrm>
            <a:off x="8312640" y="5733256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/>
              <a:t>5</a:t>
            </a:r>
          </a:p>
        </p:txBody>
      </p:sp>
      <p:sp>
        <p:nvSpPr>
          <p:cNvPr id="50" name="75 CuadroTexto"/>
          <p:cNvSpPr txBox="1"/>
          <p:nvPr/>
        </p:nvSpPr>
        <p:spPr>
          <a:xfrm>
            <a:off x="9032720" y="5733256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/>
              <a:t>2</a:t>
            </a:r>
          </a:p>
        </p:txBody>
      </p:sp>
      <p:sp>
        <p:nvSpPr>
          <p:cNvPr id="51" name="76 CuadroTexto"/>
          <p:cNvSpPr txBox="1"/>
          <p:nvPr/>
        </p:nvSpPr>
        <p:spPr>
          <a:xfrm>
            <a:off x="4136176" y="2780928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/>
              <a:t>a1</a:t>
            </a:r>
          </a:p>
        </p:txBody>
      </p:sp>
      <p:sp>
        <p:nvSpPr>
          <p:cNvPr id="52" name="77 CuadroTexto"/>
          <p:cNvSpPr txBox="1"/>
          <p:nvPr/>
        </p:nvSpPr>
        <p:spPr>
          <a:xfrm>
            <a:off x="5720352" y="2852936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/>
              <a:t>a2</a:t>
            </a:r>
          </a:p>
        </p:txBody>
      </p:sp>
      <p:sp>
        <p:nvSpPr>
          <p:cNvPr id="53" name="78 CuadroTexto"/>
          <p:cNvSpPr txBox="1"/>
          <p:nvPr/>
        </p:nvSpPr>
        <p:spPr>
          <a:xfrm>
            <a:off x="6944488" y="2780928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/>
              <a:t>a3</a:t>
            </a:r>
          </a:p>
        </p:txBody>
      </p:sp>
      <p:sp>
        <p:nvSpPr>
          <p:cNvPr id="54" name="79 CuadroTexto"/>
          <p:cNvSpPr txBox="1"/>
          <p:nvPr/>
        </p:nvSpPr>
        <p:spPr>
          <a:xfrm>
            <a:off x="2047944" y="4581128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/>
              <a:t>b1</a:t>
            </a:r>
          </a:p>
        </p:txBody>
      </p:sp>
      <p:sp>
        <p:nvSpPr>
          <p:cNvPr id="55" name="80 CuadroTexto"/>
          <p:cNvSpPr txBox="1"/>
          <p:nvPr/>
        </p:nvSpPr>
        <p:spPr>
          <a:xfrm>
            <a:off x="2624008" y="4733528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/>
              <a:t>b2</a:t>
            </a:r>
          </a:p>
        </p:txBody>
      </p:sp>
      <p:sp>
        <p:nvSpPr>
          <p:cNvPr id="56" name="81 CuadroTexto"/>
          <p:cNvSpPr txBox="1"/>
          <p:nvPr/>
        </p:nvSpPr>
        <p:spPr>
          <a:xfrm>
            <a:off x="3488104" y="4653136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/>
              <a:t>b3</a:t>
            </a:r>
          </a:p>
        </p:txBody>
      </p:sp>
      <p:sp>
        <p:nvSpPr>
          <p:cNvPr id="57" name="82 CuadroTexto"/>
          <p:cNvSpPr txBox="1"/>
          <p:nvPr/>
        </p:nvSpPr>
        <p:spPr>
          <a:xfrm>
            <a:off x="6152400" y="4581128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/>
              <a:t>c3</a:t>
            </a:r>
          </a:p>
        </p:txBody>
      </p:sp>
      <p:sp>
        <p:nvSpPr>
          <p:cNvPr id="58" name="83 CuadroTexto"/>
          <p:cNvSpPr txBox="1"/>
          <p:nvPr/>
        </p:nvSpPr>
        <p:spPr>
          <a:xfrm>
            <a:off x="5432320" y="4733528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/>
              <a:t>c2</a:t>
            </a:r>
          </a:p>
        </p:txBody>
      </p:sp>
      <p:sp>
        <p:nvSpPr>
          <p:cNvPr id="59" name="84 CuadroTexto"/>
          <p:cNvSpPr txBox="1"/>
          <p:nvPr/>
        </p:nvSpPr>
        <p:spPr>
          <a:xfrm>
            <a:off x="4856256" y="4581128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/>
              <a:t>c1</a:t>
            </a:r>
          </a:p>
        </p:txBody>
      </p:sp>
      <p:sp>
        <p:nvSpPr>
          <p:cNvPr id="60" name="85 CuadroTexto"/>
          <p:cNvSpPr txBox="1"/>
          <p:nvPr/>
        </p:nvSpPr>
        <p:spPr>
          <a:xfrm>
            <a:off x="7736576" y="4437112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/>
              <a:t>d1</a:t>
            </a:r>
          </a:p>
        </p:txBody>
      </p:sp>
      <p:sp>
        <p:nvSpPr>
          <p:cNvPr id="61" name="86 CuadroTexto"/>
          <p:cNvSpPr txBox="1"/>
          <p:nvPr/>
        </p:nvSpPr>
        <p:spPr>
          <a:xfrm>
            <a:off x="8312640" y="4715852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/>
              <a:t>d2</a:t>
            </a:r>
          </a:p>
        </p:txBody>
      </p:sp>
      <p:sp>
        <p:nvSpPr>
          <p:cNvPr id="62" name="87 CuadroTexto"/>
          <p:cNvSpPr txBox="1"/>
          <p:nvPr/>
        </p:nvSpPr>
        <p:spPr>
          <a:xfrm>
            <a:off x="8816696" y="4571836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/>
              <a:t>d3</a:t>
            </a:r>
          </a:p>
        </p:txBody>
      </p:sp>
      <p:sp>
        <p:nvSpPr>
          <p:cNvPr id="63" name="5 CuadroTexto"/>
          <p:cNvSpPr txBox="1"/>
          <p:nvPr/>
        </p:nvSpPr>
        <p:spPr>
          <a:xfrm>
            <a:off x="9932312" y="3185650"/>
            <a:ext cx="1663052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CO"/>
              <a:t>MAX: Jugador 1</a:t>
            </a:r>
          </a:p>
        </p:txBody>
      </p:sp>
      <p:cxnSp>
        <p:nvCxnSpPr>
          <p:cNvPr id="64" name="62 Conector recto"/>
          <p:cNvCxnSpPr/>
          <p:nvPr/>
        </p:nvCxnSpPr>
        <p:spPr>
          <a:xfrm>
            <a:off x="1111840" y="4464438"/>
            <a:ext cx="8820472" cy="0"/>
          </a:xfrm>
          <a:prstGeom prst="line">
            <a:avLst/>
          </a:prstGeom>
          <a:ln w="76200">
            <a:solidFill>
              <a:srgbClr val="FF9966"/>
            </a:solidFill>
            <a:prstDash val="sysDot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5" name="5 CuadroTexto"/>
          <p:cNvSpPr txBox="1"/>
          <p:nvPr/>
        </p:nvSpPr>
        <p:spPr>
          <a:xfrm>
            <a:off x="9932312" y="4293096"/>
            <a:ext cx="1663052" cy="369332"/>
          </a:xfrm>
          <a:prstGeom prst="rect">
            <a:avLst/>
          </a:prstGeom>
          <a:solidFill>
            <a:srgbClr val="FF9966"/>
          </a:solidFill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CO"/>
              <a:t>MIN: Jugador 2</a:t>
            </a:r>
          </a:p>
        </p:txBody>
      </p:sp>
      <p:pic>
        <p:nvPicPr>
          <p:cNvPr id="66" name="Marcador de contenido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5967"/>
          <a:stretch/>
        </p:blipFill>
        <p:spPr>
          <a:xfrm>
            <a:off x="1398" y="4652"/>
            <a:ext cx="12201128" cy="1649377"/>
          </a:xfrm>
        </p:spPr>
      </p:pic>
      <p:sp>
        <p:nvSpPr>
          <p:cNvPr id="67" name="Rectángulo 66"/>
          <p:cNvSpPr/>
          <p:nvPr/>
        </p:nvSpPr>
        <p:spPr>
          <a:xfrm>
            <a:off x="1343310" y="593072"/>
            <a:ext cx="7172696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_tradnl" sz="3000" b="1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Taller 4-1 – Simulación Triqui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BBE7CDD-C753-C1D6-1BA9-E6BCCBE5E12A}"/>
              </a:ext>
            </a:extLst>
          </p:cNvPr>
          <p:cNvSpPr/>
          <p:nvPr/>
        </p:nvSpPr>
        <p:spPr>
          <a:xfrm>
            <a:off x="3364637" y="3494741"/>
            <a:ext cx="393988" cy="409388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ea typeface="Calibri"/>
                <a:cs typeface="Calibri"/>
              </a:rPr>
              <a:t>3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80FE620-0762-25AF-258B-003404EFE5CD}"/>
              </a:ext>
            </a:extLst>
          </p:cNvPr>
          <p:cNvSpPr/>
          <p:nvPr/>
        </p:nvSpPr>
        <p:spPr>
          <a:xfrm>
            <a:off x="6152660" y="3449917"/>
            <a:ext cx="393988" cy="409388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tx1"/>
                </a:solidFill>
                <a:ea typeface="Calibri"/>
                <a:cs typeface="Calibri"/>
              </a:rPr>
              <a:t>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47ADD17-2F84-EAAF-476E-B0F91641F2A7}"/>
              </a:ext>
            </a:extLst>
          </p:cNvPr>
          <p:cNvSpPr/>
          <p:nvPr/>
        </p:nvSpPr>
        <p:spPr>
          <a:xfrm>
            <a:off x="8815177" y="3449917"/>
            <a:ext cx="393988" cy="409388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tx1"/>
                </a:solidFill>
                <a:ea typeface="Calibri"/>
                <a:cs typeface="Calibri"/>
              </a:rPr>
              <a:t>2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A867EEA-47F9-2013-1629-7F69668B8B9C}"/>
              </a:ext>
            </a:extLst>
          </p:cNvPr>
          <p:cNvCxnSpPr/>
          <p:nvPr/>
        </p:nvCxnSpPr>
        <p:spPr>
          <a:xfrm flipH="1">
            <a:off x="2782966" y="2203823"/>
            <a:ext cx="2381968" cy="93049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43AA899-06CB-41EB-E66E-3930A21821C0}"/>
              </a:ext>
            </a:extLst>
          </p:cNvPr>
          <p:cNvCxnSpPr>
            <a:cxnSpLocks/>
          </p:cNvCxnSpPr>
          <p:nvPr/>
        </p:nvCxnSpPr>
        <p:spPr>
          <a:xfrm flipH="1">
            <a:off x="2003036" y="4158128"/>
            <a:ext cx="696605" cy="60776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8604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  <p:bldP spid="6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Subtítulo 2"/>
          <p:cNvSpPr>
            <a:spLocks noGrp="1"/>
          </p:cNvSpPr>
          <p:nvPr>
            <p:ph type="subTitle" idx="1"/>
          </p:nvPr>
        </p:nvSpPr>
        <p:spPr>
          <a:xfrm>
            <a:off x="3384468" y="2812021"/>
            <a:ext cx="8456166" cy="1581096"/>
          </a:xfrm>
        </p:spPr>
        <p:txBody>
          <a:bodyPr>
            <a:noAutofit/>
          </a:bodyPr>
          <a:lstStyle/>
          <a:p>
            <a:r>
              <a:rPr lang="es-ES_tradnl" sz="5400" b="1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Inteligencia Artificial</a:t>
            </a:r>
          </a:p>
          <a:p>
            <a:r>
              <a:rPr lang="es-ES_tradnl" sz="3600" b="1">
                <a:solidFill>
                  <a:srgbClr val="FFC000"/>
                </a:solidFill>
                <a:latin typeface="Arial" charset="0"/>
                <a:ea typeface="Arial" charset="0"/>
                <a:cs typeface="Arial" charset="0"/>
              </a:rPr>
              <a:t>Juegos Multijugador</a:t>
            </a:r>
          </a:p>
          <a:p>
            <a:r>
              <a:rPr lang="es-ES_tradnl" sz="3600" b="1">
                <a:solidFill>
                  <a:srgbClr val="FFC000"/>
                </a:solidFill>
                <a:latin typeface="Arial" charset="0"/>
                <a:ea typeface="Arial" charset="0"/>
                <a:cs typeface="Arial" charset="0"/>
              </a:rPr>
              <a:t>Taller 4-1 - </a:t>
            </a:r>
            <a:r>
              <a:rPr lang="es-ES_tradnl" sz="3600" b="1" err="1">
                <a:solidFill>
                  <a:srgbClr val="FFC000"/>
                </a:solidFill>
                <a:latin typeface="Arial" charset="0"/>
                <a:ea typeface="Arial" charset="0"/>
                <a:cs typeface="Arial" charset="0"/>
              </a:rPr>
              <a:t>Triqui</a:t>
            </a:r>
            <a:endParaRPr lang="es-ES_tradnl" sz="3600" b="1">
              <a:solidFill>
                <a:srgbClr val="FFC000"/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6" name="Subtítulo 2"/>
          <p:cNvSpPr txBox="1">
            <a:spLocks/>
          </p:cNvSpPr>
          <p:nvPr/>
        </p:nvSpPr>
        <p:spPr>
          <a:xfrm>
            <a:off x="3723788" y="5639886"/>
            <a:ext cx="8456166" cy="1002738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b="1">
                <a:solidFill>
                  <a:schemeClr val="accent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rPr>
              <a:t>Ing. Enrique González PhD</a:t>
            </a:r>
          </a:p>
          <a:p>
            <a:r>
              <a:rPr lang="es-ES_tradnl" b="1">
                <a:solidFill>
                  <a:schemeClr val="accent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rPr>
              <a:t>Departamento de Ingeniería de Sistemas</a:t>
            </a:r>
          </a:p>
        </p:txBody>
      </p:sp>
      <p:sp>
        <p:nvSpPr>
          <p:cNvPr id="9" name="Subtítulo 2">
            <a:extLst>
              <a:ext uri="{FF2B5EF4-FFF2-40B4-BE49-F238E27FC236}">
                <a16:creationId xmlns:a16="http://schemas.microsoft.com/office/drawing/2014/main" id="{9BE5F88E-0963-179F-0D99-3C4B6E303CE5}"/>
              </a:ext>
            </a:extLst>
          </p:cNvPr>
          <p:cNvSpPr txBox="1">
            <a:spLocks/>
          </p:cNvSpPr>
          <p:nvPr/>
        </p:nvSpPr>
        <p:spPr>
          <a:xfrm>
            <a:off x="1473628" y="221871"/>
            <a:ext cx="3634928" cy="947493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>
            <a:defPPr>
              <a:defRPr lang="es-ES_tradnl"/>
            </a:defPPr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70000"/>
              </a:lnSpc>
            </a:pPr>
            <a:r>
              <a:rPr lang="es-ES_tradnl" sz="1400" b="1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Simón Díaz Monrroy</a:t>
            </a:r>
          </a:p>
          <a:p>
            <a:pPr algn="l">
              <a:lnSpc>
                <a:spcPct val="50000"/>
              </a:lnSpc>
            </a:pPr>
            <a:r>
              <a:rPr lang="es-ES_tradnl" sz="1400" b="1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Thomas Leal Puerta</a:t>
            </a:r>
          </a:p>
          <a:p>
            <a:pPr algn="l">
              <a:lnSpc>
                <a:spcPct val="70000"/>
              </a:lnSpc>
            </a:pPr>
            <a:r>
              <a:rPr lang="es-ES_tradnl" sz="1400" b="1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Eliana Pardo Montenegro</a:t>
            </a:r>
          </a:p>
          <a:p>
            <a:pPr algn="l">
              <a:lnSpc>
                <a:spcPct val="70000"/>
              </a:lnSpc>
            </a:pPr>
            <a:r>
              <a:rPr lang="es-ES_tradnl" sz="1400" b="1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Iván Pardo Montenegro</a:t>
            </a:r>
          </a:p>
        </p:txBody>
      </p:sp>
      <p:sp>
        <p:nvSpPr>
          <p:cNvPr id="10" name="Subtítulo 2">
            <a:extLst>
              <a:ext uri="{FF2B5EF4-FFF2-40B4-BE49-F238E27FC236}">
                <a16:creationId xmlns:a16="http://schemas.microsoft.com/office/drawing/2014/main" id="{B70CD2BB-F7E5-BB4A-3B8B-7E5E0A68439D}"/>
              </a:ext>
            </a:extLst>
          </p:cNvPr>
          <p:cNvSpPr txBox="1">
            <a:spLocks/>
          </p:cNvSpPr>
          <p:nvPr/>
        </p:nvSpPr>
        <p:spPr>
          <a:xfrm>
            <a:off x="317404" y="513860"/>
            <a:ext cx="1156224" cy="473746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>
            <a:defPPr>
              <a:defRPr lang="es-ES_tradnl"/>
            </a:defPPr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sz="1800" b="1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Grupo 2</a:t>
            </a:r>
          </a:p>
        </p:txBody>
      </p:sp>
    </p:spTree>
    <p:extLst>
      <p:ext uri="{BB962C8B-B14F-4D97-AF65-F5344CB8AC3E}">
        <p14:creationId xmlns:p14="http://schemas.microsoft.com/office/powerpoint/2010/main" val="269826998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AE951FC61156438C0325AC757F92D3" ma:contentTypeVersion="15" ma:contentTypeDescription="Create a new document." ma:contentTypeScope="" ma:versionID="09468e1b6ee856fa21f012bb77ec8c50">
  <xsd:schema xmlns:xsd="http://www.w3.org/2001/XMLSchema" xmlns:xs="http://www.w3.org/2001/XMLSchema" xmlns:p="http://schemas.microsoft.com/office/2006/metadata/properties" xmlns:ns3="aa2b88c4-5efc-4789-a182-bdc03192bca0" xmlns:ns4="3d24da75-f1a6-41e4-bf76-188c2d7a303e" targetNamespace="http://schemas.microsoft.com/office/2006/metadata/properties" ma:root="true" ma:fieldsID="f80c7bd077a4a3e295e55b35a73108b1" ns3:_="" ns4:_="">
    <xsd:import namespace="aa2b88c4-5efc-4789-a182-bdc03192bca0"/>
    <xsd:import namespace="3d24da75-f1a6-41e4-bf76-188c2d7a303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CR" minOccurs="0"/>
                <xsd:element ref="ns3:MediaLengthInSecond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a2b88c4-5efc-4789-a182-bdc03192bca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d24da75-f1a6-41e4-bf76-188c2d7a303e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9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aa2b88c4-5efc-4789-a182-bdc03192bca0" xsi:nil="true"/>
  </documentManagement>
</p:properties>
</file>

<file path=customXml/itemProps1.xml><?xml version="1.0" encoding="utf-8"?>
<ds:datastoreItem xmlns:ds="http://schemas.openxmlformats.org/officeDocument/2006/customXml" ds:itemID="{60CFC81A-734E-4EB6-B79F-3B2C89E8BA3D}">
  <ds:schemaRefs>
    <ds:schemaRef ds:uri="3d24da75-f1a6-41e4-bf76-188c2d7a303e"/>
    <ds:schemaRef ds:uri="aa2b88c4-5efc-4789-a182-bdc03192bca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5888C8DB-B383-42C4-86F8-526A5C6D70D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E0226F4-C63F-4445-B47B-103F89783429}">
  <ds:schemaRefs>
    <ds:schemaRef ds:uri="3d24da75-f1a6-41e4-bf76-188c2d7a303e"/>
    <ds:schemaRef ds:uri="http://schemas.openxmlformats.org/package/2006/metadata/core-properties"/>
    <ds:schemaRef ds:uri="http://schemas.microsoft.com/office/infopath/2007/PartnerControls"/>
    <ds:schemaRef ds:uri="http://www.w3.org/XML/1998/namespace"/>
    <ds:schemaRef ds:uri="http://purl.org/dc/elements/1.1/"/>
    <ds:schemaRef ds:uri="http://schemas.microsoft.com/office/2006/documentManagement/types"/>
    <ds:schemaRef ds:uri="http://purl.org/dc/dcmitype/"/>
    <ds:schemaRef ds:uri="aa2b88c4-5efc-4789-a182-bdc03192bca0"/>
    <ds:schemaRef ds:uri="http://schemas.microsoft.com/office/2006/metadata/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673</Words>
  <Application>Microsoft Office PowerPoint</Application>
  <PresentationFormat>Panorámica</PresentationFormat>
  <Paragraphs>148</Paragraphs>
  <Slides>6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Wingdings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wilperiodista86@gmail.com</dc:creator>
  <cp:lastModifiedBy>ELIANA ISABELA PARDO MONTENEGRO</cp:lastModifiedBy>
  <cp:revision>388</cp:revision>
  <dcterms:created xsi:type="dcterms:W3CDTF">2017-03-01T15:55:36Z</dcterms:created>
  <dcterms:modified xsi:type="dcterms:W3CDTF">2026-02-26T04:11:18Z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0x010100E2AE951FC61156438C0325AC757F92D3</vt:lpwstr>
  </property>
</Properties>
</file>